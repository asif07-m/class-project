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FEAB594-65BD-AA61-4567-4DE757A0EDB2}">
          <p14:sldIdLst>
            <p14:sldId id="256"/>
            <p14:sldId id="257"/>
          </p14:sldIdLst>
        </p14:section>
        <p14:section name="Design" id="{47D53E5F-E2A4-2AD3-0AC4-3CF3D678F5BC}">
          <p14:sldIdLst>
            <p14:sldId id="258"/>
            <p14:sldId id="259"/>
          </p14:sldIdLst>
        </p14:section>
        <p14:section name="Implementation" id="{96275D51-F129-165B-6D9F-09F714709B8D}">
          <p14:sldIdLst>
            <p14:sldId id="260"/>
          </p14:sldIdLst>
        </p14:section>
        <p14:section name="Results" id="{16457D5C-5D59-75AC-53D0-9EA1CFE481AB}">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2" d="100"/>
          <a:sy n="92" d="100"/>
        </p:scale>
        <p:origin x="66"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thesh Reddy" userId="515ff6d7aa310fc1" providerId="LiveId" clId="{4920CDC5-6A72-44C9-AA33-FD0835D06795}"/>
    <pc:docChg chg="modSld">
      <pc:chgData name="Hithesh Reddy" userId="515ff6d7aa310fc1" providerId="LiveId" clId="{4920CDC5-6A72-44C9-AA33-FD0835D06795}" dt="2026-10-08T03:32:28.389" v="195" actId="20577"/>
      <pc:docMkLst>
        <pc:docMk/>
      </pc:docMkLst>
      <pc:sldChg chg="modSp mod">
        <pc:chgData name="Hithesh Reddy" userId="515ff6d7aa310fc1" providerId="LiveId" clId="{4920CDC5-6A72-44C9-AA33-FD0835D06795}" dt="2026-10-08T03:32:28.389" v="195" actId="20577"/>
        <pc:sldMkLst>
          <pc:docMk/>
          <pc:sldMk cId="0" sldId="256"/>
        </pc:sldMkLst>
        <pc:spChg chg="mod">
          <ac:chgData name="Hithesh Reddy" userId="515ff6d7aa310fc1" providerId="LiveId" clId="{4920CDC5-6A72-44C9-AA33-FD0835D06795}" dt="2026-10-08T03:32:21.584" v="193" actId="1076"/>
          <ac:spMkLst>
            <pc:docMk/>
            <pc:sldMk cId="0" sldId="256"/>
            <ac:spMk id="5" creationId="{00000000-0000-0000-0000-000000000000}"/>
          </ac:spMkLst>
        </pc:spChg>
        <pc:spChg chg="mod">
          <ac:chgData name="Hithesh Reddy" userId="515ff6d7aa310fc1" providerId="LiveId" clId="{4920CDC5-6A72-44C9-AA33-FD0835D06795}" dt="2026-10-08T03:32:28.389" v="195" actId="20577"/>
          <ac:spMkLst>
            <pc:docMk/>
            <pc:sldMk cId="0" sldId="25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52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Python desktop application for inventory management and sales visualization for Advanced Python Programming (E1CSA348). Mention team members and the course in-charge.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problem with manual inventory management. Right: the six objectives, each matched by a feature in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six technologies and what each does. Right: the architecture, top to bottom. The user works through the Tkinter GUI; the App class handles the interface, the Inventory class handles database operations on SQLite; Pandas analyses the sales data and Matplotlib draws the chart.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steps. Steps 1-4 cover adding products and displaying inventory; steps 5-9 cover a sale: check product and stock, calculate the amount, update stock, store the sale; steps 10-11 are analysis and the chart. On the right, the Inventory class does database work and the App class builds the GUI and shows analytics.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four implementation pieces: OOP classes, the two SQLite tables, Pandas (DataFrame, total revenue, best-selling product via groupby) and the Matplotlib category-wise bar chart. Bottom: the structure of the products and sales tables; the empty rows only illustrate the table layout.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dashed placeholder with the real screenshot of the application window (it should show the input fields, inventory table, Product ID and Quantity, and the Record Sale and Show Analytics buttons). Delete the caption if the screenshot already makes this obvious. Demonstrate the results listed on the right.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project integrates Python, OOP, Tkinter, SQLite, Pandas and Matplotlib into a practical application. Future scope items are proposals only; none are implemented.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1828800"/>
            <a:ext cx="667512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r>
              <a:rPr lang="en-US" sz="4000" b="1" dirty="0">
                <a:solidFill>
                  <a:schemeClr val="bg1"/>
                </a:solidFill>
              </a:rPr>
              <a:t>Title</a:t>
            </a: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r>
              <a:rPr lang="en-US" sz="3200" b="1" dirty="0">
                <a:solidFill>
                  <a:schemeClr val="tx1"/>
                </a:solidFill>
              </a:rPr>
              <a:t>Title</a:t>
            </a:r>
            <a:endParaRPr lang="en-US" sz="3200" dirty="0"/>
          </a:p>
        </p:txBody>
      </p:sp>
      <p:sp>
        <p:nvSpPr>
          <p:cNvPr id="3" name="Text 0"/>
          <p:cNvSpPr/>
          <p:nvPr/>
        </p:nvSpPr>
        <p:spPr>
          <a:xfrm>
            <a:off x="822960" y="6355080"/>
            <a:ext cx="8229600" cy="274320"/>
          </a:xfrm>
          <a:prstGeom prst="rect">
            <a:avLst/>
          </a:prstGeom>
          <a:noFill/>
          <a:ln/>
        </p:spPr>
        <p:txBody>
          <a:bodyPr wrap="square" lIns="0" tIns="0" rIns="0" bIns="0" rtlCol="0" anchor="ctr"/>
          <a:lstStyle/>
          <a:p>
            <a:pPr marL="0" indent="0">
              <a:buNone/>
            </a:pPr>
            <a:r>
              <a:rPr lang="en-US" sz="1400" dirty="0">
                <a:solidFill>
                  <a:schemeClr val="accent3"/>
                </a:solidFill>
              </a:rPr>
              <a:t>Inventory Management and Sales Visualization System  |  E1CSA348</a:t>
            </a:r>
            <a:endParaRPr lang="en-US" sz="1400" dirty="0"/>
          </a:p>
        </p:txBody>
      </p:sp>
      <p:sp>
        <p:nvSpPr>
          <p:cNvPr id="25"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University"/>
          <p:cNvSpPr txBox="1"/>
          <p:nvPr/>
        </p:nvSpPr>
        <p:spPr>
          <a:xfrm>
            <a:off x="822960" y="731520"/>
            <a:ext cx="6675120" cy="365760"/>
          </a:xfrm>
          <a:prstGeom prst="rect">
            <a:avLst/>
          </a:prstGeom>
          <a:noFill/>
          <a:ln/>
        </p:spPr>
        <p:txBody>
          <a:bodyPr wrap="square" lIns="0" tIns="0" rIns="0" bIns="0" rtlCol="0" anchor="t"/>
          <a:lstStyle/>
          <a:p>
            <a:pPr marL="0" indent="0" algn="l">
              <a:buNone/>
            </a:pPr>
            <a:r>
              <a:rPr lang="en-US" sz="2200" b="1" dirty="0">
                <a:solidFill>
                  <a:schemeClr val="bg1"/>
                </a:solidFill>
              </a:rPr>
              <a:t>Alliance University</a:t>
            </a:r>
            <a:endParaRPr lang="en-US" sz="2200" dirty="0"/>
          </a:p>
        </p:txBody>
      </p:sp>
      <p:sp>
        <p:nvSpPr>
          <p:cNvPr id="3" name="School"/>
          <p:cNvSpPr txBox="1"/>
          <p:nvPr/>
        </p:nvSpPr>
        <p:spPr>
          <a:xfrm>
            <a:off x="822960" y="1143000"/>
            <a:ext cx="6675120" cy="365760"/>
          </a:xfrm>
          <a:prstGeom prst="rect">
            <a:avLst/>
          </a:prstGeom>
          <a:noFill/>
          <a:ln/>
        </p:spPr>
        <p:txBody>
          <a:bodyPr wrap="square" lIns="0" tIns="0" rIns="0" bIns="0" rtlCol="0" anchor="t"/>
          <a:lstStyle/>
          <a:p>
            <a:pPr marL="0" indent="0" algn="l">
              <a:buNone/>
            </a:pPr>
            <a:r>
              <a:rPr lang="en-US" sz="1800" dirty="0">
                <a:solidFill>
                  <a:schemeClr val="accent2"/>
                </a:solidFill>
              </a:rPr>
              <a:t>Alliance School of Advanced Computing</a:t>
            </a:r>
            <a:endParaRPr lang="en-US" sz="1800" dirty="0"/>
          </a:p>
        </p:txBody>
      </p:sp>
      <p:sp>
        <p:nvSpPr>
          <p:cNvPr id="4" name="Text 0"/>
          <p:cNvSpPr>
            <a:spLocks noGrp="1"/>
          </p:cNvSpPr>
          <p:nvPr>
            <p:ph type="title" idx="100" hasCustomPrompt="1"/>
          </p:nvPr>
        </p:nvSpPr>
        <p:spPr>
          <a:xfrm>
            <a:off x="822960" y="1828800"/>
            <a:ext cx="6675120" cy="1554480"/>
          </a:xfrm>
          <a:prstGeom prst="rect">
            <a:avLst/>
          </a:prstGeom>
          <a:noFill/>
          <a:ln/>
        </p:spPr>
        <p:txBody>
          <a:bodyPr wrap="square" lIns="0" tIns="0" rIns="0" bIns="0" rtlCol="0" anchor="t"/>
          <a:lstStyle/>
          <a:p>
            <a:pPr marL="0" indent="0" algn="l">
              <a:buNone/>
            </a:pPr>
            <a:r>
              <a:rPr lang="en-US" sz="4000" b="1" dirty="0">
                <a:solidFill>
                  <a:schemeClr val="bg1"/>
                </a:solidFill>
              </a:rPr>
              <a:t>Inventory Management and Sales Visualization System</a:t>
            </a:r>
            <a:endParaRPr lang="en-US" sz="4000" dirty="0"/>
          </a:p>
        </p:txBody>
      </p:sp>
      <p:sp>
        <p:nvSpPr>
          <p:cNvPr id="5" name="Subtitle"/>
          <p:cNvSpPr txBox="1"/>
          <p:nvPr/>
        </p:nvSpPr>
        <p:spPr>
          <a:xfrm>
            <a:off x="807721" y="3291840"/>
            <a:ext cx="6675120" cy="457200"/>
          </a:xfrm>
          <a:prstGeom prst="rect">
            <a:avLst/>
          </a:prstGeom>
          <a:noFill/>
          <a:ln/>
        </p:spPr>
        <p:txBody>
          <a:bodyPr wrap="square" lIns="0" tIns="0" rIns="0" bIns="0" rtlCol="0" anchor="t"/>
          <a:lstStyle/>
          <a:p>
            <a:pPr marL="0" indent="0" algn="l">
              <a:buNone/>
            </a:pPr>
            <a:r>
              <a:rPr lang="en-US" sz="2400" dirty="0">
                <a:solidFill>
                  <a:schemeClr val="accent2"/>
                </a:solidFill>
              </a:rPr>
              <a:t>Advanced Python Programming Micro-Project</a:t>
            </a:r>
            <a:endParaRPr lang="en-US" sz="2400" dirty="0"/>
          </a:p>
        </p:txBody>
      </p:sp>
      <p:sp>
        <p:nvSpPr>
          <p:cNvPr id="6" name="Course details"/>
          <p:cNvSpPr txBox="1"/>
          <p:nvPr/>
        </p:nvSpPr>
        <p:spPr>
          <a:xfrm>
            <a:off x="822960" y="4069080"/>
            <a:ext cx="6949440" cy="1371600"/>
          </a:xfrm>
          <a:prstGeom prst="rect">
            <a:avLst/>
          </a:prstGeom>
          <a:noFill/>
          <a:ln/>
        </p:spPr>
        <p:txBody>
          <a:bodyPr wrap="square" lIns="0" tIns="0" rIns="0" bIns="0" rtlCol="0" anchor="t"/>
          <a:lstStyle/>
          <a:p>
            <a:pPr marL="0" indent="0" algn="l">
              <a:spcAft>
                <a:spcPts val="1000"/>
              </a:spcAft>
              <a:buNone/>
            </a:pPr>
            <a:r>
              <a:rPr lang="en-US" sz="1800" b="1" dirty="0">
                <a:solidFill>
                  <a:schemeClr val="bg1"/>
                </a:solidFill>
              </a:rPr>
              <a:t>Course Code: E1CSA348</a:t>
            </a:r>
            <a:endParaRPr lang="en-US" sz="1800" dirty="0"/>
          </a:p>
          <a:p>
            <a:pPr marL="0" indent="0" algn="l">
              <a:spcAft>
                <a:spcPts val="1000"/>
              </a:spcAft>
              <a:buNone/>
            </a:pPr>
            <a:r>
              <a:rPr lang="en-US" sz="1800" dirty="0">
                <a:solidFill>
                  <a:schemeClr val="bg1"/>
                </a:solidFill>
              </a:rPr>
              <a:t>Submitted by: Hithesh Reddy(1123)</a:t>
            </a:r>
          </a:p>
          <a:p>
            <a:pPr marL="0" indent="0" algn="l">
              <a:spcAft>
                <a:spcPts val="1000"/>
              </a:spcAft>
              <a:buNone/>
            </a:pPr>
            <a:r>
              <a:rPr lang="en-US" dirty="0">
                <a:solidFill>
                  <a:schemeClr val="bg1"/>
                </a:solidFill>
              </a:rPr>
              <a:t>                          Mahammad Asif(1151)</a:t>
            </a:r>
          </a:p>
          <a:p>
            <a:pPr marL="0" indent="0" algn="l">
              <a:spcAft>
                <a:spcPts val="1000"/>
              </a:spcAft>
              <a:buNone/>
            </a:pPr>
            <a:r>
              <a:rPr lang="en-US" sz="1800" dirty="0">
                <a:solidFill>
                  <a:schemeClr val="bg1"/>
                </a:solidFill>
              </a:rPr>
              <a:t>                          Kishwar Sahil(1176)</a:t>
            </a:r>
            <a:endParaRPr lang="en-US" sz="1800" dirty="0"/>
          </a:p>
          <a:p>
            <a:pPr marL="0" indent="0" algn="l">
              <a:buNone/>
            </a:pPr>
            <a:r>
              <a:rPr lang="en-US" sz="1800" dirty="0">
                <a:solidFill>
                  <a:schemeClr val="bg1"/>
                </a:solidFill>
              </a:rPr>
              <a:t>Course In-charge: </a:t>
            </a:r>
            <a:r>
              <a:rPr lang="en-US" sz="1800" dirty="0" err="1">
                <a:solidFill>
                  <a:schemeClr val="bg1"/>
                </a:solidFill>
              </a:rPr>
              <a:t>Dr.CHETHAN</a:t>
            </a:r>
            <a:r>
              <a:rPr lang="en-US" sz="1800" dirty="0">
                <a:solidFill>
                  <a:schemeClr val="bg1"/>
                </a:solidFill>
              </a:rPr>
              <a:t> J SHELKE</a:t>
            </a:r>
            <a:endParaRPr lang="en-US" sz="1800" dirty="0"/>
          </a:p>
        </p:txBody>
      </p:sp>
      <p:sp>
        <p:nvSpPr>
          <p:cNvPr id="7" name="Cover circle"/>
          <p:cNvSpPr/>
          <p:nvPr/>
        </p:nvSpPr>
        <p:spPr>
          <a:xfrm>
            <a:off x="8046720" y="1737360"/>
            <a:ext cx="3291840" cy="3291840"/>
          </a:xfrm>
          <a:prstGeom prst="ellipse">
            <a:avLst/>
          </a:prstGeom>
          <a:solidFill>
            <a:schemeClr val="accent1"/>
          </a:solidFill>
          <a:ln/>
        </p:spPr>
        <p:txBody>
          <a:bodyPr/>
          <a:lstStyle/>
          <a:p>
            <a:endParaRPr lang="en-IN"/>
          </a:p>
        </p:txBody>
      </p:sp>
      <p:pic>
        <p:nvPicPr>
          <p:cNvPr id="8" name="Cover icon" descr="Inventory boxes icon"/>
          <p:cNvPicPr>
            <a:picLocks noChangeAspect="1"/>
          </p:cNvPicPr>
          <p:nvPr/>
        </p:nvPicPr>
        <p:blipFill>
          <a:blip r:embed="rId3"/>
          <a:stretch>
            <a:fillRect/>
          </a:stretch>
        </p:blipFill>
        <p:spPr>
          <a:xfrm>
            <a:off x="9098280" y="2788920"/>
            <a:ext cx="1188720" cy="1188720"/>
          </a:xfrm>
          <a:prstGeom prst="rect">
            <a:avLst/>
          </a:prstGeom>
        </p:spPr>
      </p:pic>
      <p:sp>
        <p:nvSpPr>
          <p:cNvPr id="9" name="Cover chart circle"/>
          <p:cNvSpPr/>
          <p:nvPr/>
        </p:nvSpPr>
        <p:spPr>
          <a:xfrm>
            <a:off x="10332720" y="1325880"/>
            <a:ext cx="1005840" cy="1005840"/>
          </a:xfrm>
          <a:prstGeom prst="ellipse">
            <a:avLst/>
          </a:prstGeom>
          <a:solidFill>
            <a:schemeClr val="bg1"/>
          </a:solidFill>
          <a:ln/>
        </p:spPr>
        <p:txBody>
          <a:bodyPr/>
          <a:lstStyle/>
          <a:p>
            <a:endParaRPr lang="en-IN"/>
          </a:p>
        </p:txBody>
      </p:sp>
      <p:pic>
        <p:nvPicPr>
          <p:cNvPr id="10" name="Cover chart icon" descr="Bar chart icon"/>
          <p:cNvPicPr>
            <a:picLocks noChangeAspect="1"/>
          </p:cNvPicPr>
          <p:nvPr/>
        </p:nvPicPr>
        <p:blipFill>
          <a:blip r:embed="rId4"/>
          <a:stretch>
            <a:fillRect/>
          </a:stretch>
        </p:blipFill>
        <p:spPr>
          <a:xfrm>
            <a:off x="10561320" y="1554480"/>
            <a:ext cx="548640" cy="548640"/>
          </a:xfrm>
          <a:prstGeom prst="rect">
            <a:avLst/>
          </a:prstGeom>
        </p:spPr>
      </p:pic>
      <p:sp>
        <p:nvSpPr>
          <p:cNvPr id="11" name="Cover db circle"/>
          <p:cNvSpPr/>
          <p:nvPr/>
        </p:nvSpPr>
        <p:spPr>
          <a:xfrm>
            <a:off x="7680960" y="4434840"/>
            <a:ext cx="1005840" cy="1005840"/>
          </a:xfrm>
          <a:prstGeom prst="ellipse">
            <a:avLst/>
          </a:prstGeom>
          <a:solidFill>
            <a:schemeClr val="bg1"/>
          </a:solidFill>
          <a:ln/>
        </p:spPr>
        <p:txBody>
          <a:bodyPr/>
          <a:lstStyle/>
          <a:p>
            <a:endParaRPr lang="en-IN"/>
          </a:p>
        </p:txBody>
      </p:sp>
      <p:pic>
        <p:nvPicPr>
          <p:cNvPr id="12" name="Cover db icon" descr="Database icon"/>
          <p:cNvPicPr>
            <a:picLocks noChangeAspect="1"/>
          </p:cNvPicPr>
          <p:nvPr/>
        </p:nvPicPr>
        <p:blipFill>
          <a:blip r:embed="rId5"/>
          <a:stretch>
            <a:fillRect/>
          </a:stretch>
        </p:blipFill>
        <p:spPr>
          <a:xfrm>
            <a:off x="7909560" y="466344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Problem Statement &amp; Objectives</a:t>
            </a:r>
            <a:endParaRPr lang="en-US" sz="3200" dirty="0"/>
          </a:p>
        </p:txBody>
      </p:sp>
      <p:sp>
        <p:nvSpPr>
          <p:cNvPr id="3" name="Problem card"/>
          <p:cNvSpPr/>
          <p:nvPr/>
        </p:nvSpPr>
        <p:spPr>
          <a:xfrm>
            <a:off x="822960" y="1554480"/>
            <a:ext cx="5134356" cy="4572000"/>
          </a:xfrm>
          <a:prstGeom prst="roundRect">
            <a:avLst>
              <a:gd name="adj" fmla="val 2400"/>
            </a:avLst>
          </a:prstGeom>
          <a:solidFill>
            <a:schemeClr val="bg2"/>
          </a:solidFill>
          <a:ln/>
        </p:spPr>
        <p:txBody>
          <a:bodyPr/>
          <a:lstStyle/>
          <a:p>
            <a:endParaRPr lang="en-IN"/>
          </a:p>
        </p:txBody>
      </p:sp>
      <p:sp>
        <p:nvSpPr>
          <p:cNvPr id="4" name="Problem title"/>
          <p:cNvSpPr txBox="1"/>
          <p:nvPr/>
        </p:nvSpPr>
        <p:spPr>
          <a:xfrm>
            <a:off x="1188720" y="1828800"/>
            <a:ext cx="4402836" cy="457200"/>
          </a:xfrm>
          <a:prstGeom prst="rect">
            <a:avLst/>
          </a:prstGeom>
          <a:noFill/>
          <a:ln/>
        </p:spPr>
        <p:txBody>
          <a:bodyPr wrap="square" lIns="0" tIns="0" rIns="0" bIns="0" rtlCol="0" anchor="ctr"/>
          <a:lstStyle/>
          <a:p>
            <a:pPr marL="0" indent="0" algn="l">
              <a:buNone/>
            </a:pPr>
            <a:r>
              <a:rPr lang="en-US" sz="2400" b="1" dirty="0">
                <a:solidFill>
                  <a:schemeClr val="tx1"/>
                </a:solidFill>
              </a:rPr>
              <a:t>Problem Statement</a:t>
            </a:r>
            <a:endParaRPr lang="en-US" sz="2400" dirty="0"/>
          </a:p>
        </p:txBody>
      </p:sp>
      <p:sp>
        <p:nvSpPr>
          <p:cNvPr id="5" name="Problem text"/>
          <p:cNvSpPr txBox="1"/>
          <p:nvPr/>
        </p:nvSpPr>
        <p:spPr>
          <a:xfrm>
            <a:off x="1188720" y="2468880"/>
            <a:ext cx="4402836" cy="1920240"/>
          </a:xfrm>
          <a:prstGeom prst="rect">
            <a:avLst/>
          </a:prstGeom>
          <a:noFill/>
          <a:ln/>
        </p:spPr>
        <p:txBody>
          <a:bodyPr wrap="square" lIns="0" tIns="0" rIns="0" bIns="0" rtlCol="0" anchor="t"/>
          <a:lstStyle/>
          <a:p>
            <a:pPr marL="0" indent="0" algn="l">
              <a:buNone/>
            </a:pPr>
            <a:r>
              <a:rPr lang="en-US" sz="2000" dirty="0">
                <a:solidFill>
                  <a:schemeClr val="tx1"/>
                </a:solidFill>
              </a:rPr>
              <a:t>Manual inventory management requires repeated stock updates, sales calculations and record checking. It can be difficult to quickly identify available stock and sales performance.</a:t>
            </a:r>
            <a:endParaRPr lang="en-US" sz="2000" dirty="0"/>
          </a:p>
        </p:txBody>
      </p:sp>
      <p:sp>
        <p:nvSpPr>
          <p:cNvPr id="6" name="Problem chip Stock updates"/>
          <p:cNvSpPr/>
          <p:nvPr/>
        </p:nvSpPr>
        <p:spPr>
          <a:xfrm>
            <a:off x="1188720" y="4572000"/>
            <a:ext cx="1345692" cy="1234440"/>
          </a:xfrm>
          <a:prstGeom prst="roundRect">
            <a:avLst>
              <a:gd name="adj" fmla="val 7407"/>
            </a:avLst>
          </a:prstGeom>
          <a:solidFill>
            <a:schemeClr val="bg1"/>
          </a:solidFill>
          <a:ln/>
        </p:spPr>
        <p:txBody>
          <a:bodyPr/>
          <a:lstStyle/>
          <a:p>
            <a:endParaRPr lang="en-IN"/>
          </a:p>
        </p:txBody>
      </p:sp>
      <p:sp>
        <p:nvSpPr>
          <p:cNvPr id="7" name="Chip Stock updates circle"/>
          <p:cNvSpPr/>
          <p:nvPr/>
        </p:nvSpPr>
        <p:spPr>
          <a:xfrm>
            <a:off x="1614678" y="4709160"/>
            <a:ext cx="493776" cy="493776"/>
          </a:xfrm>
          <a:prstGeom prst="ellipse">
            <a:avLst/>
          </a:prstGeom>
          <a:solidFill>
            <a:schemeClr val="accent1"/>
          </a:solidFill>
          <a:ln/>
        </p:spPr>
        <p:txBody>
          <a:bodyPr/>
          <a:lstStyle/>
          <a:p>
            <a:endParaRPr lang="en-IN"/>
          </a:p>
        </p:txBody>
      </p:sp>
      <p:pic>
        <p:nvPicPr>
          <p:cNvPr id="8" name="Chip Stock updates icon" descr="clock icon"/>
          <p:cNvPicPr>
            <a:picLocks noChangeAspect="1"/>
          </p:cNvPicPr>
          <p:nvPr/>
        </p:nvPicPr>
        <p:blipFill>
          <a:blip r:embed="rId3"/>
          <a:stretch>
            <a:fillRect/>
          </a:stretch>
        </p:blipFill>
        <p:spPr>
          <a:xfrm>
            <a:off x="1738122" y="4832604"/>
            <a:ext cx="246888" cy="246888"/>
          </a:xfrm>
          <a:prstGeom prst="rect">
            <a:avLst/>
          </a:prstGeom>
        </p:spPr>
      </p:pic>
      <p:sp>
        <p:nvSpPr>
          <p:cNvPr id="9" name="Problem chip text Stock updates"/>
          <p:cNvSpPr txBox="1"/>
          <p:nvPr/>
        </p:nvSpPr>
        <p:spPr>
          <a:xfrm>
            <a:off x="1234440" y="5285232"/>
            <a:ext cx="1254252" cy="457200"/>
          </a:xfrm>
          <a:prstGeom prst="rect">
            <a:avLst/>
          </a:prstGeom>
          <a:noFill/>
          <a:ln/>
        </p:spPr>
        <p:txBody>
          <a:bodyPr wrap="square" lIns="0" tIns="0" rIns="0" bIns="0" rtlCol="0" anchor="ctr"/>
          <a:lstStyle/>
          <a:p>
            <a:pPr marL="0" indent="0" algn="ctr">
              <a:buNone/>
            </a:pPr>
            <a:r>
              <a:rPr lang="en-US" sz="1400" b="1" dirty="0">
                <a:solidFill>
                  <a:schemeClr val="tx1"/>
                </a:solidFill>
              </a:rPr>
              <a:t>Stock updates</a:t>
            </a:r>
            <a:endParaRPr lang="en-US" sz="1400" dirty="0"/>
          </a:p>
        </p:txBody>
      </p:sp>
      <p:sp>
        <p:nvSpPr>
          <p:cNvPr id="10" name="Problem chip Sales calculations"/>
          <p:cNvSpPr/>
          <p:nvPr/>
        </p:nvSpPr>
        <p:spPr>
          <a:xfrm>
            <a:off x="2717292" y="4572000"/>
            <a:ext cx="1345692" cy="1234440"/>
          </a:xfrm>
          <a:prstGeom prst="roundRect">
            <a:avLst>
              <a:gd name="adj" fmla="val 7407"/>
            </a:avLst>
          </a:prstGeom>
          <a:solidFill>
            <a:schemeClr val="bg1"/>
          </a:solidFill>
          <a:ln/>
        </p:spPr>
        <p:txBody>
          <a:bodyPr/>
          <a:lstStyle/>
          <a:p>
            <a:endParaRPr lang="en-IN"/>
          </a:p>
        </p:txBody>
      </p:sp>
      <p:sp>
        <p:nvSpPr>
          <p:cNvPr id="11" name="Chip Sales calculations circle"/>
          <p:cNvSpPr/>
          <p:nvPr/>
        </p:nvSpPr>
        <p:spPr>
          <a:xfrm>
            <a:off x="3143250" y="4709160"/>
            <a:ext cx="493776" cy="493776"/>
          </a:xfrm>
          <a:prstGeom prst="ellipse">
            <a:avLst/>
          </a:prstGeom>
          <a:solidFill>
            <a:schemeClr val="accent1"/>
          </a:solidFill>
          <a:ln/>
        </p:spPr>
        <p:txBody>
          <a:bodyPr/>
          <a:lstStyle/>
          <a:p>
            <a:endParaRPr lang="en-IN"/>
          </a:p>
        </p:txBody>
      </p:sp>
      <p:pic>
        <p:nvPicPr>
          <p:cNvPr id="12" name="Chip Sales calculations icon" descr="calc icon"/>
          <p:cNvPicPr>
            <a:picLocks noChangeAspect="1"/>
          </p:cNvPicPr>
          <p:nvPr/>
        </p:nvPicPr>
        <p:blipFill>
          <a:blip r:embed="rId4"/>
          <a:stretch>
            <a:fillRect/>
          </a:stretch>
        </p:blipFill>
        <p:spPr>
          <a:xfrm>
            <a:off x="3266694" y="4832604"/>
            <a:ext cx="246888" cy="246888"/>
          </a:xfrm>
          <a:prstGeom prst="rect">
            <a:avLst/>
          </a:prstGeom>
        </p:spPr>
      </p:pic>
      <p:sp>
        <p:nvSpPr>
          <p:cNvPr id="13" name="Problem chip text Sales calculations"/>
          <p:cNvSpPr txBox="1"/>
          <p:nvPr/>
        </p:nvSpPr>
        <p:spPr>
          <a:xfrm>
            <a:off x="2763012" y="5285232"/>
            <a:ext cx="1254252" cy="457200"/>
          </a:xfrm>
          <a:prstGeom prst="rect">
            <a:avLst/>
          </a:prstGeom>
          <a:noFill/>
          <a:ln/>
        </p:spPr>
        <p:txBody>
          <a:bodyPr wrap="square" lIns="0" tIns="0" rIns="0" bIns="0" rtlCol="0" anchor="ctr"/>
          <a:lstStyle/>
          <a:p>
            <a:pPr marL="0" indent="0" algn="ctr">
              <a:buNone/>
            </a:pPr>
            <a:r>
              <a:rPr lang="en-US" sz="1400" b="1" dirty="0">
                <a:solidFill>
                  <a:schemeClr val="tx1"/>
                </a:solidFill>
              </a:rPr>
              <a:t>Sales calculations</a:t>
            </a:r>
            <a:endParaRPr lang="en-US" sz="1400" dirty="0"/>
          </a:p>
        </p:txBody>
      </p:sp>
      <p:sp>
        <p:nvSpPr>
          <p:cNvPr id="14" name="Problem chip Record checking"/>
          <p:cNvSpPr/>
          <p:nvPr/>
        </p:nvSpPr>
        <p:spPr>
          <a:xfrm>
            <a:off x="4245864" y="4572000"/>
            <a:ext cx="1345692" cy="1234440"/>
          </a:xfrm>
          <a:prstGeom prst="roundRect">
            <a:avLst>
              <a:gd name="adj" fmla="val 7407"/>
            </a:avLst>
          </a:prstGeom>
          <a:solidFill>
            <a:schemeClr val="bg1"/>
          </a:solidFill>
          <a:ln/>
        </p:spPr>
        <p:txBody>
          <a:bodyPr/>
          <a:lstStyle/>
          <a:p>
            <a:endParaRPr lang="en-IN"/>
          </a:p>
        </p:txBody>
      </p:sp>
      <p:sp>
        <p:nvSpPr>
          <p:cNvPr id="15" name="Chip Record checking circle"/>
          <p:cNvSpPr/>
          <p:nvPr/>
        </p:nvSpPr>
        <p:spPr>
          <a:xfrm>
            <a:off x="4671822" y="4709160"/>
            <a:ext cx="493776" cy="493776"/>
          </a:xfrm>
          <a:prstGeom prst="ellipse">
            <a:avLst/>
          </a:prstGeom>
          <a:solidFill>
            <a:schemeClr val="accent1"/>
          </a:solidFill>
          <a:ln/>
        </p:spPr>
        <p:txBody>
          <a:bodyPr/>
          <a:lstStyle/>
          <a:p>
            <a:endParaRPr lang="en-IN"/>
          </a:p>
        </p:txBody>
      </p:sp>
      <p:pic>
        <p:nvPicPr>
          <p:cNvPr id="16" name="Chip Record checking icon" descr="search icon"/>
          <p:cNvPicPr>
            <a:picLocks noChangeAspect="1"/>
          </p:cNvPicPr>
          <p:nvPr/>
        </p:nvPicPr>
        <p:blipFill>
          <a:blip r:embed="rId5"/>
          <a:stretch>
            <a:fillRect/>
          </a:stretch>
        </p:blipFill>
        <p:spPr>
          <a:xfrm>
            <a:off x="4795266" y="4832604"/>
            <a:ext cx="246888" cy="246888"/>
          </a:xfrm>
          <a:prstGeom prst="rect">
            <a:avLst/>
          </a:prstGeom>
        </p:spPr>
      </p:pic>
      <p:sp>
        <p:nvSpPr>
          <p:cNvPr id="17" name="Problem chip text Record checking"/>
          <p:cNvSpPr txBox="1"/>
          <p:nvPr/>
        </p:nvSpPr>
        <p:spPr>
          <a:xfrm>
            <a:off x="4291584" y="5285232"/>
            <a:ext cx="1254252" cy="457200"/>
          </a:xfrm>
          <a:prstGeom prst="rect">
            <a:avLst/>
          </a:prstGeom>
          <a:noFill/>
          <a:ln/>
        </p:spPr>
        <p:txBody>
          <a:bodyPr wrap="square" lIns="0" tIns="0" rIns="0" bIns="0" rtlCol="0" anchor="ctr"/>
          <a:lstStyle/>
          <a:p>
            <a:pPr marL="0" indent="0" algn="ctr">
              <a:buNone/>
            </a:pPr>
            <a:r>
              <a:rPr lang="en-US" sz="1400" b="1" dirty="0">
                <a:solidFill>
                  <a:schemeClr val="tx1"/>
                </a:solidFill>
              </a:rPr>
              <a:t>Record checking</a:t>
            </a:r>
            <a:endParaRPr lang="en-US" sz="1400" dirty="0"/>
          </a:p>
        </p:txBody>
      </p:sp>
      <p:sp>
        <p:nvSpPr>
          <p:cNvPr id="18" name="Objectives card"/>
          <p:cNvSpPr/>
          <p:nvPr/>
        </p:nvSpPr>
        <p:spPr>
          <a:xfrm>
            <a:off x="6231636" y="1554480"/>
            <a:ext cx="5134356" cy="4572000"/>
          </a:xfrm>
          <a:prstGeom prst="roundRect">
            <a:avLst>
              <a:gd name="adj" fmla="val 2400"/>
            </a:avLst>
          </a:prstGeom>
          <a:solidFill>
            <a:schemeClr val="bg2"/>
          </a:solidFill>
          <a:ln/>
        </p:spPr>
        <p:txBody>
          <a:bodyPr/>
          <a:lstStyle/>
          <a:p>
            <a:endParaRPr lang="en-IN"/>
          </a:p>
        </p:txBody>
      </p:sp>
      <p:sp>
        <p:nvSpPr>
          <p:cNvPr id="19" name="Objectives title"/>
          <p:cNvSpPr txBox="1"/>
          <p:nvPr/>
        </p:nvSpPr>
        <p:spPr>
          <a:xfrm>
            <a:off x="6597396" y="1828800"/>
            <a:ext cx="4402836" cy="457200"/>
          </a:xfrm>
          <a:prstGeom prst="rect">
            <a:avLst/>
          </a:prstGeom>
          <a:noFill/>
          <a:ln/>
        </p:spPr>
        <p:txBody>
          <a:bodyPr wrap="square" lIns="0" tIns="0" rIns="0" bIns="0" rtlCol="0" anchor="ctr"/>
          <a:lstStyle/>
          <a:p>
            <a:pPr marL="0" indent="0" algn="l">
              <a:buNone/>
            </a:pPr>
            <a:r>
              <a:rPr lang="en-US" sz="2400" b="1" dirty="0">
                <a:solidFill>
                  <a:schemeClr val="tx1"/>
                </a:solidFill>
              </a:rPr>
              <a:t>Objectives</a:t>
            </a:r>
            <a:endParaRPr lang="en-US" sz="2400" dirty="0"/>
          </a:p>
        </p:txBody>
      </p:sp>
      <p:sp>
        <p:nvSpPr>
          <p:cNvPr id="20" name="Objectives list"/>
          <p:cNvSpPr txBox="1"/>
          <p:nvPr/>
        </p:nvSpPr>
        <p:spPr>
          <a:xfrm>
            <a:off x="6597396" y="2468880"/>
            <a:ext cx="4402836" cy="347472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chemeClr val="tx1"/>
                </a:solidFill>
              </a:rPr>
              <a:t>Develop a simple inventory management application.</a:t>
            </a:r>
            <a:endParaRPr lang="en-US" sz="1800" dirty="0"/>
          </a:p>
          <a:p>
            <a:pPr marL="342900" indent="-342900" algn="l">
              <a:spcAft>
                <a:spcPts val="1000"/>
              </a:spcAft>
              <a:buSzPct val="100000"/>
              <a:buChar char="•"/>
            </a:pPr>
            <a:r>
              <a:rPr lang="en-US" sz="1800" dirty="0">
                <a:solidFill>
                  <a:schemeClr val="tx1"/>
                </a:solidFill>
              </a:rPr>
              <a:t>Store product and sales information using SQLite.</a:t>
            </a:r>
            <a:endParaRPr lang="en-US" sz="1800" dirty="0"/>
          </a:p>
          <a:p>
            <a:pPr marL="342900" indent="-342900" algn="l">
              <a:spcAft>
                <a:spcPts val="1000"/>
              </a:spcAft>
              <a:buSzPct val="100000"/>
              <a:buChar char="•"/>
            </a:pPr>
            <a:r>
              <a:rPr lang="en-US" sz="1800" dirty="0">
                <a:solidFill>
                  <a:schemeClr val="tx1"/>
                </a:solidFill>
              </a:rPr>
              <a:t>Provide a user-friendly Tkinter GUI.</a:t>
            </a:r>
            <a:endParaRPr lang="en-US" sz="1800" dirty="0"/>
          </a:p>
          <a:p>
            <a:pPr marL="342900" indent="-342900" algn="l">
              <a:spcAft>
                <a:spcPts val="1000"/>
              </a:spcAft>
              <a:buSzPct val="100000"/>
              <a:buChar char="•"/>
            </a:pPr>
            <a:r>
              <a:rPr lang="en-US" sz="1800" dirty="0">
                <a:solidFill>
                  <a:schemeClr val="tx1"/>
                </a:solidFill>
              </a:rPr>
              <a:t>Automatically update stock after sales.</a:t>
            </a:r>
            <a:endParaRPr lang="en-US" sz="1800" dirty="0"/>
          </a:p>
          <a:p>
            <a:pPr marL="342900" indent="-342900" algn="l">
              <a:spcAft>
                <a:spcPts val="1000"/>
              </a:spcAft>
              <a:buSzPct val="100000"/>
              <a:buChar char="•"/>
            </a:pPr>
            <a:r>
              <a:rPr lang="en-US" sz="1800" dirty="0">
                <a:solidFill>
                  <a:schemeClr val="tx1"/>
                </a:solidFill>
              </a:rPr>
              <a:t>Analyze sales using Pandas.</a:t>
            </a:r>
            <a:endParaRPr lang="en-US" sz="1800" dirty="0"/>
          </a:p>
          <a:p>
            <a:pPr marL="342900" indent="-342900" algn="l">
              <a:spcAft>
                <a:spcPts val="1000"/>
              </a:spcAft>
              <a:buSzPct val="100000"/>
              <a:buChar char="•"/>
            </a:pPr>
            <a:r>
              <a:rPr lang="en-US" sz="1800" dirty="0">
                <a:solidFill>
                  <a:schemeClr val="tx1"/>
                </a:solidFill>
              </a:rPr>
              <a:t>Visualize category-wise sales using Matplotlib.</a:t>
            </a:r>
            <a:endParaRPr lang="en-US" sz="1800" dirty="0"/>
          </a:p>
        </p:txBody>
      </p:sp>
      <p:sp>
        <p:nvSpPr>
          <p:cNvPr id="25"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Technology Stack &amp; System Architecture</a:t>
            </a:r>
            <a:endParaRPr lang="en-US" sz="3200" dirty="0"/>
          </a:p>
        </p:txBody>
      </p:sp>
      <p:sp>
        <p:nvSpPr>
          <p:cNvPr id="3" name="Python row"/>
          <p:cNvSpPr/>
          <p:nvPr/>
        </p:nvSpPr>
        <p:spPr>
          <a:xfrm>
            <a:off x="822960" y="1554480"/>
            <a:ext cx="4572000" cy="647700"/>
          </a:xfrm>
          <a:prstGeom prst="roundRect">
            <a:avLst>
              <a:gd name="adj" fmla="val 16941"/>
            </a:avLst>
          </a:prstGeom>
          <a:solidFill>
            <a:schemeClr val="bg2"/>
          </a:solidFill>
          <a:ln/>
        </p:spPr>
        <p:txBody>
          <a:bodyPr/>
          <a:lstStyle/>
          <a:p>
            <a:endParaRPr lang="en-IN"/>
          </a:p>
        </p:txBody>
      </p:sp>
      <p:sp>
        <p:nvSpPr>
          <p:cNvPr id="4" name="Python circle"/>
          <p:cNvSpPr/>
          <p:nvPr/>
        </p:nvSpPr>
        <p:spPr>
          <a:xfrm>
            <a:off x="1051560" y="1640586"/>
            <a:ext cx="475488" cy="475488"/>
          </a:xfrm>
          <a:prstGeom prst="ellipse">
            <a:avLst/>
          </a:prstGeom>
          <a:solidFill>
            <a:schemeClr val="accent1"/>
          </a:solidFill>
          <a:ln/>
        </p:spPr>
        <p:txBody>
          <a:bodyPr/>
          <a:lstStyle/>
          <a:p>
            <a:endParaRPr lang="en-IN"/>
          </a:p>
        </p:txBody>
      </p:sp>
      <p:pic>
        <p:nvPicPr>
          <p:cNvPr id="5" name="Python icon" descr="Python icon"/>
          <p:cNvPicPr>
            <a:picLocks noChangeAspect="1"/>
          </p:cNvPicPr>
          <p:nvPr/>
        </p:nvPicPr>
        <p:blipFill>
          <a:blip r:embed="rId3"/>
          <a:stretch>
            <a:fillRect/>
          </a:stretch>
        </p:blipFill>
        <p:spPr>
          <a:xfrm>
            <a:off x="1170432" y="1759458"/>
            <a:ext cx="237744" cy="237744"/>
          </a:xfrm>
          <a:prstGeom prst="rect">
            <a:avLst/>
          </a:prstGeom>
        </p:spPr>
      </p:pic>
      <p:sp>
        <p:nvSpPr>
          <p:cNvPr id="6" name="Python name"/>
          <p:cNvSpPr txBox="1"/>
          <p:nvPr/>
        </p:nvSpPr>
        <p:spPr>
          <a:xfrm>
            <a:off x="1783080" y="160020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Python</a:t>
            </a:r>
            <a:endParaRPr lang="en-US" sz="1800" dirty="0"/>
          </a:p>
        </p:txBody>
      </p:sp>
      <p:sp>
        <p:nvSpPr>
          <p:cNvPr id="7" name="Python role"/>
          <p:cNvSpPr txBox="1"/>
          <p:nvPr/>
        </p:nvSpPr>
        <p:spPr>
          <a:xfrm>
            <a:off x="1783080" y="188366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Core programming</a:t>
            </a:r>
            <a:endParaRPr lang="en-US" sz="1400" dirty="0"/>
          </a:p>
        </p:txBody>
      </p:sp>
      <p:sp>
        <p:nvSpPr>
          <p:cNvPr id="8" name="Tkinter row"/>
          <p:cNvSpPr/>
          <p:nvPr/>
        </p:nvSpPr>
        <p:spPr>
          <a:xfrm>
            <a:off x="822960" y="2339340"/>
            <a:ext cx="4572000" cy="647700"/>
          </a:xfrm>
          <a:prstGeom prst="roundRect">
            <a:avLst>
              <a:gd name="adj" fmla="val 16941"/>
            </a:avLst>
          </a:prstGeom>
          <a:solidFill>
            <a:schemeClr val="bg2"/>
          </a:solidFill>
          <a:ln/>
        </p:spPr>
        <p:txBody>
          <a:bodyPr/>
          <a:lstStyle/>
          <a:p>
            <a:endParaRPr lang="en-IN"/>
          </a:p>
        </p:txBody>
      </p:sp>
      <p:sp>
        <p:nvSpPr>
          <p:cNvPr id="9" name="Tkinter circle"/>
          <p:cNvSpPr/>
          <p:nvPr/>
        </p:nvSpPr>
        <p:spPr>
          <a:xfrm>
            <a:off x="1051560" y="2425446"/>
            <a:ext cx="475488" cy="475488"/>
          </a:xfrm>
          <a:prstGeom prst="ellipse">
            <a:avLst/>
          </a:prstGeom>
          <a:solidFill>
            <a:schemeClr val="accent1"/>
          </a:solidFill>
          <a:ln/>
        </p:spPr>
        <p:txBody>
          <a:bodyPr/>
          <a:lstStyle/>
          <a:p>
            <a:endParaRPr lang="en-IN"/>
          </a:p>
        </p:txBody>
      </p:sp>
      <p:pic>
        <p:nvPicPr>
          <p:cNvPr id="10" name="Tkinter icon" descr="Tkinter icon"/>
          <p:cNvPicPr>
            <a:picLocks noChangeAspect="1"/>
          </p:cNvPicPr>
          <p:nvPr/>
        </p:nvPicPr>
        <p:blipFill>
          <a:blip r:embed="rId4"/>
          <a:stretch>
            <a:fillRect/>
          </a:stretch>
        </p:blipFill>
        <p:spPr>
          <a:xfrm>
            <a:off x="1170432" y="2544318"/>
            <a:ext cx="237744" cy="237744"/>
          </a:xfrm>
          <a:prstGeom prst="rect">
            <a:avLst/>
          </a:prstGeom>
        </p:spPr>
      </p:pic>
      <p:sp>
        <p:nvSpPr>
          <p:cNvPr id="11" name="Tkinter name"/>
          <p:cNvSpPr txBox="1"/>
          <p:nvPr/>
        </p:nvSpPr>
        <p:spPr>
          <a:xfrm>
            <a:off x="1783080" y="238506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Tkinter</a:t>
            </a:r>
            <a:endParaRPr lang="en-US" sz="1800" dirty="0"/>
          </a:p>
        </p:txBody>
      </p:sp>
      <p:sp>
        <p:nvSpPr>
          <p:cNvPr id="12" name="Tkinter role"/>
          <p:cNvSpPr txBox="1"/>
          <p:nvPr/>
        </p:nvSpPr>
        <p:spPr>
          <a:xfrm>
            <a:off x="1783080" y="266852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Graphical User Interface</a:t>
            </a:r>
            <a:endParaRPr lang="en-US" sz="1400" dirty="0"/>
          </a:p>
        </p:txBody>
      </p:sp>
      <p:sp>
        <p:nvSpPr>
          <p:cNvPr id="13" name="SQLite row"/>
          <p:cNvSpPr/>
          <p:nvPr/>
        </p:nvSpPr>
        <p:spPr>
          <a:xfrm>
            <a:off x="822960" y="3124200"/>
            <a:ext cx="4572000" cy="647700"/>
          </a:xfrm>
          <a:prstGeom prst="roundRect">
            <a:avLst>
              <a:gd name="adj" fmla="val 16941"/>
            </a:avLst>
          </a:prstGeom>
          <a:solidFill>
            <a:schemeClr val="bg2"/>
          </a:solidFill>
          <a:ln/>
        </p:spPr>
        <p:txBody>
          <a:bodyPr/>
          <a:lstStyle/>
          <a:p>
            <a:endParaRPr lang="en-IN"/>
          </a:p>
        </p:txBody>
      </p:sp>
      <p:sp>
        <p:nvSpPr>
          <p:cNvPr id="14" name="SQLite circle"/>
          <p:cNvSpPr/>
          <p:nvPr/>
        </p:nvSpPr>
        <p:spPr>
          <a:xfrm>
            <a:off x="1051560" y="3210306"/>
            <a:ext cx="475488" cy="475488"/>
          </a:xfrm>
          <a:prstGeom prst="ellipse">
            <a:avLst/>
          </a:prstGeom>
          <a:solidFill>
            <a:schemeClr val="accent1"/>
          </a:solidFill>
          <a:ln/>
        </p:spPr>
        <p:txBody>
          <a:bodyPr/>
          <a:lstStyle/>
          <a:p>
            <a:endParaRPr lang="en-IN"/>
          </a:p>
        </p:txBody>
      </p:sp>
      <p:pic>
        <p:nvPicPr>
          <p:cNvPr id="15" name="SQLite icon" descr="SQLite icon"/>
          <p:cNvPicPr>
            <a:picLocks noChangeAspect="1"/>
          </p:cNvPicPr>
          <p:nvPr/>
        </p:nvPicPr>
        <p:blipFill>
          <a:blip r:embed="rId5"/>
          <a:stretch>
            <a:fillRect/>
          </a:stretch>
        </p:blipFill>
        <p:spPr>
          <a:xfrm>
            <a:off x="1170432" y="3329178"/>
            <a:ext cx="237744" cy="237744"/>
          </a:xfrm>
          <a:prstGeom prst="rect">
            <a:avLst/>
          </a:prstGeom>
        </p:spPr>
      </p:pic>
      <p:sp>
        <p:nvSpPr>
          <p:cNvPr id="16" name="SQLite name"/>
          <p:cNvSpPr txBox="1"/>
          <p:nvPr/>
        </p:nvSpPr>
        <p:spPr>
          <a:xfrm>
            <a:off x="1783080" y="316992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SQLite</a:t>
            </a:r>
            <a:endParaRPr lang="en-US" sz="1800" dirty="0"/>
          </a:p>
        </p:txBody>
      </p:sp>
      <p:sp>
        <p:nvSpPr>
          <p:cNvPr id="17" name="SQLite role"/>
          <p:cNvSpPr txBox="1"/>
          <p:nvPr/>
        </p:nvSpPr>
        <p:spPr>
          <a:xfrm>
            <a:off x="1783080" y="345338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Persistent database</a:t>
            </a:r>
            <a:endParaRPr lang="en-US" sz="1400" dirty="0"/>
          </a:p>
        </p:txBody>
      </p:sp>
      <p:sp>
        <p:nvSpPr>
          <p:cNvPr id="18" name="Pandas row"/>
          <p:cNvSpPr/>
          <p:nvPr/>
        </p:nvSpPr>
        <p:spPr>
          <a:xfrm>
            <a:off x="822960" y="3909060"/>
            <a:ext cx="4572000" cy="647700"/>
          </a:xfrm>
          <a:prstGeom prst="roundRect">
            <a:avLst>
              <a:gd name="adj" fmla="val 16941"/>
            </a:avLst>
          </a:prstGeom>
          <a:solidFill>
            <a:schemeClr val="bg2"/>
          </a:solidFill>
          <a:ln/>
        </p:spPr>
        <p:txBody>
          <a:bodyPr/>
          <a:lstStyle/>
          <a:p>
            <a:endParaRPr lang="en-IN"/>
          </a:p>
        </p:txBody>
      </p:sp>
      <p:sp>
        <p:nvSpPr>
          <p:cNvPr id="19" name="Pandas circle"/>
          <p:cNvSpPr/>
          <p:nvPr/>
        </p:nvSpPr>
        <p:spPr>
          <a:xfrm>
            <a:off x="1051560" y="3995166"/>
            <a:ext cx="475488" cy="475488"/>
          </a:xfrm>
          <a:prstGeom prst="ellipse">
            <a:avLst/>
          </a:prstGeom>
          <a:solidFill>
            <a:schemeClr val="accent1"/>
          </a:solidFill>
          <a:ln/>
        </p:spPr>
        <p:txBody>
          <a:bodyPr/>
          <a:lstStyle/>
          <a:p>
            <a:endParaRPr lang="en-IN"/>
          </a:p>
        </p:txBody>
      </p:sp>
      <p:pic>
        <p:nvPicPr>
          <p:cNvPr id="20" name="Pandas icon" descr="Pandas icon"/>
          <p:cNvPicPr>
            <a:picLocks noChangeAspect="1"/>
          </p:cNvPicPr>
          <p:nvPr/>
        </p:nvPicPr>
        <p:blipFill>
          <a:blip r:embed="rId6"/>
          <a:stretch>
            <a:fillRect/>
          </a:stretch>
        </p:blipFill>
        <p:spPr>
          <a:xfrm>
            <a:off x="1170432" y="4114038"/>
            <a:ext cx="237744" cy="237744"/>
          </a:xfrm>
          <a:prstGeom prst="rect">
            <a:avLst/>
          </a:prstGeom>
        </p:spPr>
      </p:pic>
      <p:sp>
        <p:nvSpPr>
          <p:cNvPr id="21" name="Pandas name"/>
          <p:cNvSpPr txBox="1"/>
          <p:nvPr/>
        </p:nvSpPr>
        <p:spPr>
          <a:xfrm>
            <a:off x="1783080" y="395478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Pandas</a:t>
            </a:r>
            <a:endParaRPr lang="en-US" sz="1800" dirty="0"/>
          </a:p>
        </p:txBody>
      </p:sp>
      <p:sp>
        <p:nvSpPr>
          <p:cNvPr id="22" name="Pandas role"/>
          <p:cNvSpPr txBox="1"/>
          <p:nvPr/>
        </p:nvSpPr>
        <p:spPr>
          <a:xfrm>
            <a:off x="1783080" y="423824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Data analysis</a:t>
            </a:r>
            <a:endParaRPr lang="en-US" sz="1400" dirty="0"/>
          </a:p>
        </p:txBody>
      </p:sp>
      <p:sp>
        <p:nvSpPr>
          <p:cNvPr id="23" name="Matplotlib row"/>
          <p:cNvSpPr/>
          <p:nvPr/>
        </p:nvSpPr>
        <p:spPr>
          <a:xfrm>
            <a:off x="822960" y="4693920"/>
            <a:ext cx="4572000" cy="647700"/>
          </a:xfrm>
          <a:prstGeom prst="roundRect">
            <a:avLst>
              <a:gd name="adj" fmla="val 16941"/>
            </a:avLst>
          </a:prstGeom>
          <a:solidFill>
            <a:schemeClr val="bg2"/>
          </a:solidFill>
          <a:ln/>
        </p:spPr>
        <p:txBody>
          <a:bodyPr/>
          <a:lstStyle/>
          <a:p>
            <a:endParaRPr lang="en-IN"/>
          </a:p>
        </p:txBody>
      </p:sp>
      <p:sp>
        <p:nvSpPr>
          <p:cNvPr id="24" name="Matplotlib circle"/>
          <p:cNvSpPr/>
          <p:nvPr/>
        </p:nvSpPr>
        <p:spPr>
          <a:xfrm>
            <a:off x="1051560" y="4780026"/>
            <a:ext cx="475488" cy="475488"/>
          </a:xfrm>
          <a:prstGeom prst="ellipse">
            <a:avLst/>
          </a:prstGeom>
          <a:solidFill>
            <a:schemeClr val="accent1"/>
          </a:solidFill>
          <a:ln/>
        </p:spPr>
        <p:txBody>
          <a:bodyPr/>
          <a:lstStyle/>
          <a:p>
            <a:endParaRPr lang="en-IN"/>
          </a:p>
        </p:txBody>
      </p:sp>
      <p:pic>
        <p:nvPicPr>
          <p:cNvPr id="25" name="Matplotlib icon" descr="Matplotlib icon"/>
          <p:cNvPicPr>
            <a:picLocks noChangeAspect="1"/>
          </p:cNvPicPr>
          <p:nvPr/>
        </p:nvPicPr>
        <p:blipFill>
          <a:blip r:embed="rId7"/>
          <a:stretch>
            <a:fillRect/>
          </a:stretch>
        </p:blipFill>
        <p:spPr>
          <a:xfrm>
            <a:off x="1170432" y="4898898"/>
            <a:ext cx="237744" cy="237744"/>
          </a:xfrm>
          <a:prstGeom prst="rect">
            <a:avLst/>
          </a:prstGeom>
        </p:spPr>
      </p:pic>
      <p:sp>
        <p:nvSpPr>
          <p:cNvPr id="26" name="Matplotlib name"/>
          <p:cNvSpPr txBox="1"/>
          <p:nvPr/>
        </p:nvSpPr>
        <p:spPr>
          <a:xfrm>
            <a:off x="1783080" y="473964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Matplotlib</a:t>
            </a:r>
            <a:endParaRPr lang="en-US" sz="1800" dirty="0"/>
          </a:p>
        </p:txBody>
      </p:sp>
      <p:sp>
        <p:nvSpPr>
          <p:cNvPr id="27" name="Matplotlib role"/>
          <p:cNvSpPr txBox="1"/>
          <p:nvPr/>
        </p:nvSpPr>
        <p:spPr>
          <a:xfrm>
            <a:off x="1783080" y="502310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Data visualization</a:t>
            </a:r>
            <a:endParaRPr lang="en-US" sz="1400" dirty="0"/>
          </a:p>
        </p:txBody>
      </p:sp>
      <p:sp>
        <p:nvSpPr>
          <p:cNvPr id="28" name="OOP row"/>
          <p:cNvSpPr/>
          <p:nvPr/>
        </p:nvSpPr>
        <p:spPr>
          <a:xfrm>
            <a:off x="822960" y="5478780"/>
            <a:ext cx="4572000" cy="647700"/>
          </a:xfrm>
          <a:prstGeom prst="roundRect">
            <a:avLst>
              <a:gd name="adj" fmla="val 16941"/>
            </a:avLst>
          </a:prstGeom>
          <a:solidFill>
            <a:schemeClr val="bg2"/>
          </a:solidFill>
          <a:ln/>
        </p:spPr>
        <p:txBody>
          <a:bodyPr/>
          <a:lstStyle/>
          <a:p>
            <a:endParaRPr lang="en-IN"/>
          </a:p>
        </p:txBody>
      </p:sp>
      <p:sp>
        <p:nvSpPr>
          <p:cNvPr id="29" name="OOP circle"/>
          <p:cNvSpPr/>
          <p:nvPr/>
        </p:nvSpPr>
        <p:spPr>
          <a:xfrm>
            <a:off x="1051560" y="5564886"/>
            <a:ext cx="475488" cy="475488"/>
          </a:xfrm>
          <a:prstGeom prst="ellipse">
            <a:avLst/>
          </a:prstGeom>
          <a:solidFill>
            <a:schemeClr val="accent1"/>
          </a:solidFill>
          <a:ln/>
        </p:spPr>
        <p:txBody>
          <a:bodyPr/>
          <a:lstStyle/>
          <a:p>
            <a:endParaRPr lang="en-IN"/>
          </a:p>
        </p:txBody>
      </p:sp>
      <p:pic>
        <p:nvPicPr>
          <p:cNvPr id="30" name="OOP icon" descr="OOP icon"/>
          <p:cNvPicPr>
            <a:picLocks noChangeAspect="1"/>
          </p:cNvPicPr>
          <p:nvPr/>
        </p:nvPicPr>
        <p:blipFill>
          <a:blip r:embed="rId8"/>
          <a:stretch>
            <a:fillRect/>
          </a:stretch>
        </p:blipFill>
        <p:spPr>
          <a:xfrm>
            <a:off x="1170432" y="5683758"/>
            <a:ext cx="237744" cy="237744"/>
          </a:xfrm>
          <a:prstGeom prst="rect">
            <a:avLst/>
          </a:prstGeom>
        </p:spPr>
      </p:pic>
      <p:sp>
        <p:nvSpPr>
          <p:cNvPr id="31" name="OOP name"/>
          <p:cNvSpPr txBox="1"/>
          <p:nvPr/>
        </p:nvSpPr>
        <p:spPr>
          <a:xfrm>
            <a:off x="1783080" y="5524500"/>
            <a:ext cx="3429000" cy="292608"/>
          </a:xfrm>
          <a:prstGeom prst="rect">
            <a:avLst/>
          </a:prstGeom>
          <a:noFill/>
          <a:ln/>
        </p:spPr>
        <p:txBody>
          <a:bodyPr wrap="square" lIns="0" tIns="0" rIns="0" bIns="0" rtlCol="0" anchor="ctr"/>
          <a:lstStyle/>
          <a:p>
            <a:pPr marL="0" indent="0" algn="l">
              <a:buNone/>
            </a:pPr>
            <a:r>
              <a:rPr lang="en-US" sz="1800" b="1" dirty="0">
                <a:solidFill>
                  <a:schemeClr val="tx1"/>
                </a:solidFill>
              </a:rPr>
              <a:t>OOP</a:t>
            </a:r>
            <a:endParaRPr lang="en-US" sz="1800" dirty="0"/>
          </a:p>
        </p:txBody>
      </p:sp>
      <p:sp>
        <p:nvSpPr>
          <p:cNvPr id="32" name="OOP role"/>
          <p:cNvSpPr txBox="1"/>
          <p:nvPr/>
        </p:nvSpPr>
        <p:spPr>
          <a:xfrm>
            <a:off x="1783080" y="5807964"/>
            <a:ext cx="3429000" cy="237744"/>
          </a:xfrm>
          <a:prstGeom prst="rect">
            <a:avLst/>
          </a:prstGeom>
          <a:noFill/>
          <a:ln/>
        </p:spPr>
        <p:txBody>
          <a:bodyPr wrap="square" lIns="0" tIns="0" rIns="0" bIns="0" rtlCol="0" anchor="ctr"/>
          <a:lstStyle/>
          <a:p>
            <a:pPr marL="0" indent="0" algn="l">
              <a:buNone/>
            </a:pPr>
            <a:r>
              <a:rPr lang="en-US" sz="1400" dirty="0">
                <a:solidFill>
                  <a:schemeClr val="accent3"/>
                </a:solidFill>
              </a:rPr>
              <a:t>Program structure</a:t>
            </a:r>
            <a:endParaRPr lang="en-US" sz="1400" dirty="0"/>
          </a:p>
        </p:txBody>
      </p:sp>
      <p:sp>
        <p:nvSpPr>
          <p:cNvPr id="33" name="Arch box User"/>
          <p:cNvSpPr/>
          <p:nvPr/>
        </p:nvSpPr>
        <p:spPr>
          <a:xfrm>
            <a:off x="6597396" y="1554480"/>
            <a:ext cx="3840480" cy="475488"/>
          </a:xfrm>
          <a:prstGeom prst="roundRect">
            <a:avLst>
              <a:gd name="adj" fmla="val 19231"/>
            </a:avLst>
          </a:prstGeom>
          <a:solidFill>
            <a:schemeClr val="bg2"/>
          </a:solidFill>
          <a:ln w="19050">
            <a:solidFill>
              <a:schemeClr val="accent1"/>
            </a:solidFill>
            <a:prstDash val="solid"/>
          </a:ln>
        </p:spPr>
        <p:txBody>
          <a:bodyPr/>
          <a:lstStyle/>
          <a:p>
            <a:endParaRPr lang="en-IN"/>
          </a:p>
        </p:txBody>
      </p:sp>
      <p:sp>
        <p:nvSpPr>
          <p:cNvPr id="34" name="Arch label User"/>
          <p:cNvSpPr txBox="1"/>
          <p:nvPr/>
        </p:nvSpPr>
        <p:spPr>
          <a:xfrm>
            <a:off x="6597396" y="1554480"/>
            <a:ext cx="3840480" cy="475488"/>
          </a:xfrm>
          <a:prstGeom prst="rect">
            <a:avLst/>
          </a:prstGeom>
          <a:noFill/>
          <a:ln/>
        </p:spPr>
        <p:txBody>
          <a:bodyPr wrap="square" lIns="0" tIns="0" rIns="0" bIns="0" rtlCol="0" anchor="ctr"/>
          <a:lstStyle/>
          <a:p>
            <a:pPr marL="0" indent="0" algn="ctr">
              <a:buNone/>
            </a:pPr>
            <a:r>
              <a:rPr lang="en-US" sz="1800" b="1" dirty="0">
                <a:solidFill>
                  <a:schemeClr val="tx1"/>
                </a:solidFill>
              </a:rPr>
              <a:t>User</a:t>
            </a:r>
            <a:endParaRPr lang="en-US" sz="1800" dirty="0"/>
          </a:p>
        </p:txBody>
      </p:sp>
      <p:sp>
        <p:nvSpPr>
          <p:cNvPr id="35" name="Arch arrow 1"/>
          <p:cNvSpPr/>
          <p:nvPr/>
        </p:nvSpPr>
        <p:spPr>
          <a:xfrm>
            <a:off x="8380476" y="2052828"/>
            <a:ext cx="274320" cy="155448"/>
          </a:xfrm>
          <a:prstGeom prst="downArrow">
            <a:avLst/>
          </a:prstGeom>
          <a:solidFill>
            <a:schemeClr val="accent3"/>
          </a:solidFill>
          <a:ln/>
        </p:spPr>
        <p:txBody>
          <a:bodyPr/>
          <a:lstStyle/>
          <a:p>
            <a:endParaRPr lang="en-IN"/>
          </a:p>
        </p:txBody>
      </p:sp>
      <p:sp>
        <p:nvSpPr>
          <p:cNvPr id="36" name="Arch box Tkinter GUI"/>
          <p:cNvSpPr/>
          <p:nvPr/>
        </p:nvSpPr>
        <p:spPr>
          <a:xfrm>
            <a:off x="6597396" y="2231136"/>
            <a:ext cx="3840480" cy="475488"/>
          </a:xfrm>
          <a:prstGeom prst="roundRect">
            <a:avLst>
              <a:gd name="adj" fmla="val 19231"/>
            </a:avLst>
          </a:prstGeom>
          <a:solidFill>
            <a:schemeClr val="bg2"/>
          </a:solidFill>
          <a:ln w="19050">
            <a:solidFill>
              <a:schemeClr val="accent1"/>
            </a:solidFill>
            <a:prstDash val="solid"/>
          </a:ln>
        </p:spPr>
        <p:txBody>
          <a:bodyPr/>
          <a:lstStyle/>
          <a:p>
            <a:endParaRPr lang="en-IN"/>
          </a:p>
        </p:txBody>
      </p:sp>
      <p:sp>
        <p:nvSpPr>
          <p:cNvPr id="37" name="Arch label Tkinter GUI"/>
          <p:cNvSpPr txBox="1"/>
          <p:nvPr/>
        </p:nvSpPr>
        <p:spPr>
          <a:xfrm>
            <a:off x="6597396" y="2231136"/>
            <a:ext cx="3840480" cy="475488"/>
          </a:xfrm>
          <a:prstGeom prst="rect">
            <a:avLst/>
          </a:prstGeom>
          <a:noFill/>
          <a:ln/>
        </p:spPr>
        <p:txBody>
          <a:bodyPr wrap="square" lIns="0" tIns="0" rIns="0" bIns="0" rtlCol="0" anchor="ctr"/>
          <a:lstStyle/>
          <a:p>
            <a:pPr marL="0" indent="0" algn="ctr">
              <a:buNone/>
            </a:pPr>
            <a:r>
              <a:rPr lang="en-US" sz="1800" b="1" dirty="0">
                <a:solidFill>
                  <a:schemeClr val="tx1"/>
                </a:solidFill>
              </a:rPr>
              <a:t>Tkinter GUI</a:t>
            </a:r>
            <a:endParaRPr lang="en-US" sz="1800" dirty="0"/>
          </a:p>
        </p:txBody>
      </p:sp>
      <p:sp>
        <p:nvSpPr>
          <p:cNvPr id="38" name="Arch arrow 2"/>
          <p:cNvSpPr/>
          <p:nvPr/>
        </p:nvSpPr>
        <p:spPr>
          <a:xfrm>
            <a:off x="8380476" y="2729484"/>
            <a:ext cx="274320" cy="155448"/>
          </a:xfrm>
          <a:prstGeom prst="downArrow">
            <a:avLst/>
          </a:prstGeom>
          <a:solidFill>
            <a:schemeClr val="accent3"/>
          </a:solidFill>
          <a:ln/>
        </p:spPr>
        <p:txBody>
          <a:bodyPr/>
          <a:lstStyle/>
          <a:p>
            <a:endParaRPr lang="en-IN"/>
          </a:p>
        </p:txBody>
      </p:sp>
      <p:sp>
        <p:nvSpPr>
          <p:cNvPr id="39" name="Arch box App Class"/>
          <p:cNvSpPr/>
          <p:nvPr/>
        </p:nvSpPr>
        <p:spPr>
          <a:xfrm>
            <a:off x="6597396" y="2907792"/>
            <a:ext cx="3840480" cy="475488"/>
          </a:xfrm>
          <a:prstGeom prst="roundRect">
            <a:avLst>
              <a:gd name="adj" fmla="val 19231"/>
            </a:avLst>
          </a:prstGeom>
          <a:solidFill>
            <a:schemeClr val="accent1"/>
          </a:solidFill>
          <a:ln w="19050">
            <a:solidFill>
              <a:schemeClr val="accent1"/>
            </a:solidFill>
            <a:prstDash val="solid"/>
          </a:ln>
        </p:spPr>
        <p:txBody>
          <a:bodyPr/>
          <a:lstStyle/>
          <a:p>
            <a:endParaRPr lang="en-IN"/>
          </a:p>
        </p:txBody>
      </p:sp>
      <p:sp>
        <p:nvSpPr>
          <p:cNvPr id="40" name="Arch label App Class"/>
          <p:cNvSpPr txBox="1"/>
          <p:nvPr/>
        </p:nvSpPr>
        <p:spPr>
          <a:xfrm>
            <a:off x="6597396" y="2907792"/>
            <a:ext cx="3840480" cy="475488"/>
          </a:xfrm>
          <a:prstGeom prst="rect">
            <a:avLst/>
          </a:prstGeom>
          <a:noFill/>
          <a:ln/>
        </p:spPr>
        <p:txBody>
          <a:bodyPr wrap="square" lIns="0" tIns="0" rIns="0" bIns="0" rtlCol="0" anchor="ctr"/>
          <a:lstStyle/>
          <a:p>
            <a:pPr marL="0" indent="0" algn="ctr">
              <a:buNone/>
            </a:pPr>
            <a:r>
              <a:rPr lang="en-US" sz="1800" b="1" dirty="0">
                <a:solidFill>
                  <a:schemeClr val="bg1"/>
                </a:solidFill>
              </a:rPr>
              <a:t>App Class</a:t>
            </a:r>
            <a:endParaRPr lang="en-US" sz="1800" dirty="0"/>
          </a:p>
        </p:txBody>
      </p:sp>
      <p:sp>
        <p:nvSpPr>
          <p:cNvPr id="41" name="Arch arrow 3"/>
          <p:cNvSpPr/>
          <p:nvPr/>
        </p:nvSpPr>
        <p:spPr>
          <a:xfrm>
            <a:off x="8380476" y="3406140"/>
            <a:ext cx="274320" cy="155448"/>
          </a:xfrm>
          <a:prstGeom prst="downArrow">
            <a:avLst/>
          </a:prstGeom>
          <a:solidFill>
            <a:schemeClr val="accent3"/>
          </a:solidFill>
          <a:ln/>
        </p:spPr>
        <p:txBody>
          <a:bodyPr/>
          <a:lstStyle/>
          <a:p>
            <a:endParaRPr lang="en-IN"/>
          </a:p>
        </p:txBody>
      </p:sp>
      <p:sp>
        <p:nvSpPr>
          <p:cNvPr id="42" name="Arch box Inventory Class"/>
          <p:cNvSpPr/>
          <p:nvPr/>
        </p:nvSpPr>
        <p:spPr>
          <a:xfrm>
            <a:off x="6597396" y="3584448"/>
            <a:ext cx="3840480" cy="475488"/>
          </a:xfrm>
          <a:prstGeom prst="roundRect">
            <a:avLst>
              <a:gd name="adj" fmla="val 19231"/>
            </a:avLst>
          </a:prstGeom>
          <a:solidFill>
            <a:schemeClr val="accent1"/>
          </a:solidFill>
          <a:ln w="19050">
            <a:solidFill>
              <a:schemeClr val="accent1"/>
            </a:solidFill>
            <a:prstDash val="solid"/>
          </a:ln>
        </p:spPr>
        <p:txBody>
          <a:bodyPr/>
          <a:lstStyle/>
          <a:p>
            <a:endParaRPr lang="en-IN"/>
          </a:p>
        </p:txBody>
      </p:sp>
      <p:sp>
        <p:nvSpPr>
          <p:cNvPr id="43" name="Arch label Inventory Class"/>
          <p:cNvSpPr txBox="1"/>
          <p:nvPr/>
        </p:nvSpPr>
        <p:spPr>
          <a:xfrm>
            <a:off x="6597396" y="3584448"/>
            <a:ext cx="3840480" cy="475488"/>
          </a:xfrm>
          <a:prstGeom prst="rect">
            <a:avLst/>
          </a:prstGeom>
          <a:noFill/>
          <a:ln/>
        </p:spPr>
        <p:txBody>
          <a:bodyPr wrap="square" lIns="0" tIns="0" rIns="0" bIns="0" rtlCol="0" anchor="ctr"/>
          <a:lstStyle/>
          <a:p>
            <a:pPr marL="0" indent="0" algn="ctr">
              <a:buNone/>
            </a:pPr>
            <a:r>
              <a:rPr lang="en-US" sz="1800" b="1" dirty="0">
                <a:solidFill>
                  <a:schemeClr val="bg1"/>
                </a:solidFill>
              </a:rPr>
              <a:t>Inventory Class</a:t>
            </a:r>
            <a:endParaRPr lang="en-US" sz="1800" dirty="0"/>
          </a:p>
        </p:txBody>
      </p:sp>
      <p:sp>
        <p:nvSpPr>
          <p:cNvPr id="44" name="Arch arrow 4"/>
          <p:cNvSpPr/>
          <p:nvPr/>
        </p:nvSpPr>
        <p:spPr>
          <a:xfrm>
            <a:off x="8380476" y="4082796"/>
            <a:ext cx="274320" cy="155448"/>
          </a:xfrm>
          <a:prstGeom prst="downArrow">
            <a:avLst/>
          </a:prstGeom>
          <a:solidFill>
            <a:schemeClr val="accent3"/>
          </a:solidFill>
          <a:ln/>
        </p:spPr>
        <p:txBody>
          <a:bodyPr/>
          <a:lstStyle/>
          <a:p>
            <a:endParaRPr lang="en-IN"/>
          </a:p>
        </p:txBody>
      </p:sp>
      <p:sp>
        <p:nvSpPr>
          <p:cNvPr id="45" name="Arch box SQLite Database"/>
          <p:cNvSpPr/>
          <p:nvPr/>
        </p:nvSpPr>
        <p:spPr>
          <a:xfrm>
            <a:off x="6597396" y="4261104"/>
            <a:ext cx="3840480" cy="475488"/>
          </a:xfrm>
          <a:prstGeom prst="roundRect">
            <a:avLst>
              <a:gd name="adj" fmla="val 19231"/>
            </a:avLst>
          </a:prstGeom>
          <a:solidFill>
            <a:schemeClr val="accent6"/>
          </a:solidFill>
          <a:ln w="19050">
            <a:solidFill>
              <a:schemeClr val="accent6"/>
            </a:solidFill>
            <a:prstDash val="solid"/>
          </a:ln>
        </p:spPr>
        <p:txBody>
          <a:bodyPr/>
          <a:lstStyle/>
          <a:p>
            <a:endParaRPr lang="en-IN"/>
          </a:p>
        </p:txBody>
      </p:sp>
      <p:sp>
        <p:nvSpPr>
          <p:cNvPr id="46" name="Arch label SQLite Database"/>
          <p:cNvSpPr txBox="1"/>
          <p:nvPr/>
        </p:nvSpPr>
        <p:spPr>
          <a:xfrm>
            <a:off x="6597396" y="4261104"/>
            <a:ext cx="3840480" cy="475488"/>
          </a:xfrm>
          <a:prstGeom prst="rect">
            <a:avLst/>
          </a:prstGeom>
          <a:noFill/>
          <a:ln/>
        </p:spPr>
        <p:txBody>
          <a:bodyPr wrap="square" lIns="0" tIns="0" rIns="0" bIns="0" rtlCol="0" anchor="ctr"/>
          <a:lstStyle/>
          <a:p>
            <a:pPr marL="0" indent="0" algn="ctr">
              <a:buNone/>
            </a:pPr>
            <a:r>
              <a:rPr lang="en-US" sz="1800" b="1" dirty="0">
                <a:solidFill>
                  <a:schemeClr val="bg1"/>
                </a:solidFill>
              </a:rPr>
              <a:t>SQLite Database</a:t>
            </a:r>
            <a:endParaRPr lang="en-US" sz="1800" dirty="0"/>
          </a:p>
        </p:txBody>
      </p:sp>
      <p:sp>
        <p:nvSpPr>
          <p:cNvPr id="47" name="Arch arrow 5"/>
          <p:cNvSpPr/>
          <p:nvPr/>
        </p:nvSpPr>
        <p:spPr>
          <a:xfrm>
            <a:off x="8380476" y="4759452"/>
            <a:ext cx="274320" cy="155448"/>
          </a:xfrm>
          <a:prstGeom prst="downArrow">
            <a:avLst/>
          </a:prstGeom>
          <a:solidFill>
            <a:schemeClr val="accent3"/>
          </a:solidFill>
          <a:ln/>
        </p:spPr>
        <p:txBody>
          <a:bodyPr/>
          <a:lstStyle/>
          <a:p>
            <a:endParaRPr lang="en-IN"/>
          </a:p>
        </p:txBody>
      </p:sp>
      <p:sp>
        <p:nvSpPr>
          <p:cNvPr id="48" name="Arch box Pandas Analysis"/>
          <p:cNvSpPr/>
          <p:nvPr/>
        </p:nvSpPr>
        <p:spPr>
          <a:xfrm>
            <a:off x="6597396" y="4937760"/>
            <a:ext cx="3840480" cy="475488"/>
          </a:xfrm>
          <a:prstGeom prst="roundRect">
            <a:avLst>
              <a:gd name="adj" fmla="val 19231"/>
            </a:avLst>
          </a:prstGeom>
          <a:solidFill>
            <a:schemeClr val="tx2"/>
          </a:solidFill>
          <a:ln w="19050">
            <a:solidFill>
              <a:schemeClr val="tx2"/>
            </a:solidFill>
            <a:prstDash val="solid"/>
          </a:ln>
        </p:spPr>
        <p:txBody>
          <a:bodyPr/>
          <a:lstStyle/>
          <a:p>
            <a:endParaRPr lang="en-IN"/>
          </a:p>
        </p:txBody>
      </p:sp>
      <p:sp>
        <p:nvSpPr>
          <p:cNvPr id="49" name="Arch label Pandas Analysis"/>
          <p:cNvSpPr txBox="1"/>
          <p:nvPr/>
        </p:nvSpPr>
        <p:spPr>
          <a:xfrm>
            <a:off x="6597396" y="4937760"/>
            <a:ext cx="3840480" cy="475488"/>
          </a:xfrm>
          <a:prstGeom prst="rect">
            <a:avLst/>
          </a:prstGeom>
          <a:noFill/>
          <a:ln/>
        </p:spPr>
        <p:txBody>
          <a:bodyPr wrap="square" lIns="0" tIns="0" rIns="0" bIns="0" rtlCol="0" anchor="ctr"/>
          <a:lstStyle/>
          <a:p>
            <a:pPr marL="0" indent="0" algn="ctr">
              <a:buNone/>
            </a:pPr>
            <a:r>
              <a:rPr lang="en-US" sz="1800" b="1" dirty="0">
                <a:solidFill>
                  <a:schemeClr val="bg1"/>
                </a:solidFill>
              </a:rPr>
              <a:t>Pandas Analysis</a:t>
            </a:r>
            <a:endParaRPr lang="en-US" sz="1800" dirty="0"/>
          </a:p>
        </p:txBody>
      </p:sp>
      <p:sp>
        <p:nvSpPr>
          <p:cNvPr id="50" name="Arch arrow 6"/>
          <p:cNvSpPr/>
          <p:nvPr/>
        </p:nvSpPr>
        <p:spPr>
          <a:xfrm>
            <a:off x="8380476" y="5436108"/>
            <a:ext cx="274320" cy="155448"/>
          </a:xfrm>
          <a:prstGeom prst="downArrow">
            <a:avLst/>
          </a:prstGeom>
          <a:solidFill>
            <a:schemeClr val="accent3"/>
          </a:solidFill>
          <a:ln/>
        </p:spPr>
        <p:txBody>
          <a:bodyPr/>
          <a:lstStyle/>
          <a:p>
            <a:endParaRPr lang="en-IN"/>
          </a:p>
        </p:txBody>
      </p:sp>
      <p:sp>
        <p:nvSpPr>
          <p:cNvPr id="51" name="Arch box Matplotlib Visualization"/>
          <p:cNvSpPr/>
          <p:nvPr/>
        </p:nvSpPr>
        <p:spPr>
          <a:xfrm>
            <a:off x="6597396" y="5614416"/>
            <a:ext cx="3840480" cy="475488"/>
          </a:xfrm>
          <a:prstGeom prst="roundRect">
            <a:avLst>
              <a:gd name="adj" fmla="val 19231"/>
            </a:avLst>
          </a:prstGeom>
          <a:solidFill>
            <a:schemeClr val="tx2"/>
          </a:solidFill>
          <a:ln w="19050">
            <a:solidFill>
              <a:schemeClr val="tx2"/>
            </a:solidFill>
            <a:prstDash val="solid"/>
          </a:ln>
        </p:spPr>
        <p:txBody>
          <a:bodyPr/>
          <a:lstStyle/>
          <a:p>
            <a:endParaRPr lang="en-IN"/>
          </a:p>
        </p:txBody>
      </p:sp>
      <p:sp>
        <p:nvSpPr>
          <p:cNvPr id="52" name="Arch label Matplotlib Visualization"/>
          <p:cNvSpPr txBox="1"/>
          <p:nvPr/>
        </p:nvSpPr>
        <p:spPr>
          <a:xfrm>
            <a:off x="6597396" y="5614416"/>
            <a:ext cx="3840480" cy="475488"/>
          </a:xfrm>
          <a:prstGeom prst="rect">
            <a:avLst/>
          </a:prstGeom>
          <a:noFill/>
          <a:ln/>
        </p:spPr>
        <p:txBody>
          <a:bodyPr wrap="square" lIns="0" tIns="0" rIns="0" bIns="0" rtlCol="0" anchor="ctr"/>
          <a:lstStyle/>
          <a:p>
            <a:pPr marL="0" indent="0" algn="ctr">
              <a:buNone/>
            </a:pPr>
            <a:r>
              <a:rPr lang="en-US" sz="1800" b="1" dirty="0">
                <a:solidFill>
                  <a:schemeClr val="bg1"/>
                </a:solidFill>
              </a:rPr>
              <a:t>Matplotlib Visualization</a:t>
            </a:r>
            <a:endParaRPr lang="en-US" sz="1800" dirty="0"/>
          </a:p>
        </p:txBody>
      </p:sp>
      <p:sp>
        <p:nvSpPr>
          <p:cNvPr id="53"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System Design &amp; Workflow</a:t>
            </a:r>
            <a:endParaRPr lang="en-US" sz="3200" dirty="0"/>
          </a:p>
        </p:txBody>
      </p:sp>
      <p:sp>
        <p:nvSpPr>
          <p:cNvPr id="3" name="Flow step 1"/>
          <p:cNvSpPr/>
          <p:nvPr/>
        </p:nvSpPr>
        <p:spPr>
          <a:xfrm>
            <a:off x="822960" y="1554480"/>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4" name="Flow text 1"/>
          <p:cNvSpPr txBox="1"/>
          <p:nvPr/>
        </p:nvSpPr>
        <p:spPr>
          <a:xfrm>
            <a:off x="1325880" y="1554480"/>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Add Product</a:t>
            </a:r>
            <a:endParaRPr lang="en-US" sz="1600" dirty="0"/>
          </a:p>
        </p:txBody>
      </p:sp>
      <p:sp>
        <p:nvSpPr>
          <p:cNvPr id="5" name="Flow badge 1"/>
          <p:cNvSpPr/>
          <p:nvPr/>
        </p:nvSpPr>
        <p:spPr>
          <a:xfrm>
            <a:off x="914400" y="1874520"/>
            <a:ext cx="329184" cy="329184"/>
          </a:xfrm>
          <a:prstGeom prst="ellipse">
            <a:avLst/>
          </a:prstGeom>
          <a:solidFill>
            <a:schemeClr val="accent1"/>
          </a:solidFill>
          <a:ln/>
        </p:spPr>
        <p:txBody>
          <a:bodyPr/>
          <a:lstStyle/>
          <a:p>
            <a:endParaRPr lang="en-IN"/>
          </a:p>
        </p:txBody>
      </p:sp>
      <p:sp>
        <p:nvSpPr>
          <p:cNvPr id="6" name="Flow number 1"/>
          <p:cNvSpPr txBox="1"/>
          <p:nvPr/>
        </p:nvSpPr>
        <p:spPr>
          <a:xfrm>
            <a:off x="914400" y="187452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Flow arrow 1"/>
          <p:cNvSpPr/>
          <p:nvPr/>
        </p:nvSpPr>
        <p:spPr>
          <a:xfrm>
            <a:off x="2962656" y="1911096"/>
            <a:ext cx="237744" cy="237744"/>
          </a:xfrm>
          <a:prstGeom prst="rightArrow">
            <a:avLst/>
          </a:prstGeom>
          <a:solidFill>
            <a:schemeClr val="accent1"/>
          </a:solidFill>
          <a:ln/>
        </p:spPr>
        <p:txBody>
          <a:bodyPr/>
          <a:lstStyle/>
          <a:p>
            <a:endParaRPr lang="en-IN"/>
          </a:p>
        </p:txBody>
      </p:sp>
      <p:sp>
        <p:nvSpPr>
          <p:cNvPr id="8" name="Flow step 2"/>
          <p:cNvSpPr/>
          <p:nvPr/>
        </p:nvSpPr>
        <p:spPr>
          <a:xfrm>
            <a:off x="3255264" y="1554480"/>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9" name="Flow text 2"/>
          <p:cNvSpPr txBox="1"/>
          <p:nvPr/>
        </p:nvSpPr>
        <p:spPr>
          <a:xfrm>
            <a:off x="3758184" y="1554480"/>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Enter Name / Category / Price / Stock</a:t>
            </a:r>
            <a:endParaRPr lang="en-US" sz="1600" dirty="0"/>
          </a:p>
        </p:txBody>
      </p:sp>
      <p:sp>
        <p:nvSpPr>
          <p:cNvPr id="10" name="Flow badge 2"/>
          <p:cNvSpPr/>
          <p:nvPr/>
        </p:nvSpPr>
        <p:spPr>
          <a:xfrm>
            <a:off x="3346704" y="1874520"/>
            <a:ext cx="329184" cy="329184"/>
          </a:xfrm>
          <a:prstGeom prst="ellipse">
            <a:avLst/>
          </a:prstGeom>
          <a:solidFill>
            <a:schemeClr val="accent1"/>
          </a:solidFill>
          <a:ln/>
        </p:spPr>
        <p:txBody>
          <a:bodyPr/>
          <a:lstStyle/>
          <a:p>
            <a:endParaRPr lang="en-IN"/>
          </a:p>
        </p:txBody>
      </p:sp>
      <p:sp>
        <p:nvSpPr>
          <p:cNvPr id="11" name="Flow number 2"/>
          <p:cNvSpPr txBox="1"/>
          <p:nvPr/>
        </p:nvSpPr>
        <p:spPr>
          <a:xfrm>
            <a:off x="3346704" y="187452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Flow arrow 2"/>
          <p:cNvSpPr/>
          <p:nvPr/>
        </p:nvSpPr>
        <p:spPr>
          <a:xfrm>
            <a:off x="5394960" y="1911096"/>
            <a:ext cx="237744" cy="237744"/>
          </a:xfrm>
          <a:prstGeom prst="rightArrow">
            <a:avLst/>
          </a:prstGeom>
          <a:solidFill>
            <a:schemeClr val="accent1"/>
          </a:solidFill>
          <a:ln/>
        </p:spPr>
        <p:txBody>
          <a:bodyPr/>
          <a:lstStyle/>
          <a:p>
            <a:endParaRPr lang="en-IN"/>
          </a:p>
        </p:txBody>
      </p:sp>
      <p:sp>
        <p:nvSpPr>
          <p:cNvPr id="13" name="Flow step 3"/>
          <p:cNvSpPr/>
          <p:nvPr/>
        </p:nvSpPr>
        <p:spPr>
          <a:xfrm>
            <a:off x="5687568" y="1554480"/>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14" name="Flow text 3"/>
          <p:cNvSpPr txBox="1"/>
          <p:nvPr/>
        </p:nvSpPr>
        <p:spPr>
          <a:xfrm>
            <a:off x="6190488" y="1554480"/>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Store in SQLite</a:t>
            </a:r>
            <a:endParaRPr lang="en-US" sz="1600" dirty="0"/>
          </a:p>
        </p:txBody>
      </p:sp>
      <p:sp>
        <p:nvSpPr>
          <p:cNvPr id="15" name="Flow badge 3"/>
          <p:cNvSpPr/>
          <p:nvPr/>
        </p:nvSpPr>
        <p:spPr>
          <a:xfrm>
            <a:off x="5779008" y="1874520"/>
            <a:ext cx="329184" cy="329184"/>
          </a:xfrm>
          <a:prstGeom prst="ellipse">
            <a:avLst/>
          </a:prstGeom>
          <a:solidFill>
            <a:schemeClr val="accent1"/>
          </a:solidFill>
          <a:ln/>
        </p:spPr>
        <p:txBody>
          <a:bodyPr/>
          <a:lstStyle/>
          <a:p>
            <a:endParaRPr lang="en-IN"/>
          </a:p>
        </p:txBody>
      </p:sp>
      <p:sp>
        <p:nvSpPr>
          <p:cNvPr id="16" name="Flow number 3"/>
          <p:cNvSpPr txBox="1"/>
          <p:nvPr/>
        </p:nvSpPr>
        <p:spPr>
          <a:xfrm>
            <a:off x="5779008" y="1874520"/>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7" name="Flow step 4"/>
          <p:cNvSpPr/>
          <p:nvPr/>
        </p:nvSpPr>
        <p:spPr>
          <a:xfrm>
            <a:off x="822960" y="2761488"/>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18" name="Flow text 4"/>
          <p:cNvSpPr txBox="1"/>
          <p:nvPr/>
        </p:nvSpPr>
        <p:spPr>
          <a:xfrm>
            <a:off x="1325880" y="2761488"/>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Display Inventory</a:t>
            </a:r>
            <a:endParaRPr lang="en-US" sz="1600" dirty="0"/>
          </a:p>
        </p:txBody>
      </p:sp>
      <p:sp>
        <p:nvSpPr>
          <p:cNvPr id="19" name="Flow badge 4"/>
          <p:cNvSpPr/>
          <p:nvPr/>
        </p:nvSpPr>
        <p:spPr>
          <a:xfrm>
            <a:off x="914400" y="3081528"/>
            <a:ext cx="329184" cy="329184"/>
          </a:xfrm>
          <a:prstGeom prst="ellipse">
            <a:avLst/>
          </a:prstGeom>
          <a:solidFill>
            <a:schemeClr val="accent1"/>
          </a:solidFill>
          <a:ln/>
        </p:spPr>
        <p:txBody>
          <a:bodyPr/>
          <a:lstStyle/>
          <a:p>
            <a:endParaRPr lang="en-IN"/>
          </a:p>
        </p:txBody>
      </p:sp>
      <p:sp>
        <p:nvSpPr>
          <p:cNvPr id="20" name="Flow number 4"/>
          <p:cNvSpPr txBox="1"/>
          <p:nvPr/>
        </p:nvSpPr>
        <p:spPr>
          <a:xfrm>
            <a:off x="914400" y="308152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1" name="Flow arrow 4"/>
          <p:cNvSpPr/>
          <p:nvPr/>
        </p:nvSpPr>
        <p:spPr>
          <a:xfrm>
            <a:off x="2962656" y="3118104"/>
            <a:ext cx="237744" cy="237744"/>
          </a:xfrm>
          <a:prstGeom prst="rightArrow">
            <a:avLst/>
          </a:prstGeom>
          <a:solidFill>
            <a:schemeClr val="accent1"/>
          </a:solidFill>
          <a:ln/>
        </p:spPr>
        <p:txBody>
          <a:bodyPr/>
          <a:lstStyle/>
          <a:p>
            <a:endParaRPr lang="en-IN"/>
          </a:p>
        </p:txBody>
      </p:sp>
      <p:sp>
        <p:nvSpPr>
          <p:cNvPr id="22" name="Flow step 5"/>
          <p:cNvSpPr/>
          <p:nvPr/>
        </p:nvSpPr>
        <p:spPr>
          <a:xfrm>
            <a:off x="3255264" y="2761488"/>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23" name="Flow text 5"/>
          <p:cNvSpPr txBox="1"/>
          <p:nvPr/>
        </p:nvSpPr>
        <p:spPr>
          <a:xfrm>
            <a:off x="3758184" y="2761488"/>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Record Sale</a:t>
            </a:r>
            <a:endParaRPr lang="en-US" sz="1600" dirty="0"/>
          </a:p>
        </p:txBody>
      </p:sp>
      <p:sp>
        <p:nvSpPr>
          <p:cNvPr id="24" name="Flow badge 5"/>
          <p:cNvSpPr/>
          <p:nvPr/>
        </p:nvSpPr>
        <p:spPr>
          <a:xfrm>
            <a:off x="3346704" y="3081528"/>
            <a:ext cx="329184" cy="329184"/>
          </a:xfrm>
          <a:prstGeom prst="ellipse">
            <a:avLst/>
          </a:prstGeom>
          <a:solidFill>
            <a:schemeClr val="accent1"/>
          </a:solidFill>
          <a:ln/>
        </p:spPr>
        <p:txBody>
          <a:bodyPr/>
          <a:lstStyle/>
          <a:p>
            <a:endParaRPr lang="en-IN"/>
          </a:p>
        </p:txBody>
      </p:sp>
      <p:sp>
        <p:nvSpPr>
          <p:cNvPr id="25" name="Flow number 5"/>
          <p:cNvSpPr txBox="1"/>
          <p:nvPr/>
        </p:nvSpPr>
        <p:spPr>
          <a:xfrm>
            <a:off x="3346704" y="308152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6" name="Flow arrow 5"/>
          <p:cNvSpPr/>
          <p:nvPr/>
        </p:nvSpPr>
        <p:spPr>
          <a:xfrm>
            <a:off x="5394960" y="3118104"/>
            <a:ext cx="237744" cy="237744"/>
          </a:xfrm>
          <a:prstGeom prst="rightArrow">
            <a:avLst/>
          </a:prstGeom>
          <a:solidFill>
            <a:schemeClr val="accent1"/>
          </a:solidFill>
          <a:ln/>
        </p:spPr>
        <p:txBody>
          <a:bodyPr/>
          <a:lstStyle/>
          <a:p>
            <a:endParaRPr lang="en-IN"/>
          </a:p>
        </p:txBody>
      </p:sp>
      <p:sp>
        <p:nvSpPr>
          <p:cNvPr id="27" name="Flow step 6"/>
          <p:cNvSpPr/>
          <p:nvPr/>
        </p:nvSpPr>
        <p:spPr>
          <a:xfrm>
            <a:off x="5687568" y="2761488"/>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28" name="Flow text 6"/>
          <p:cNvSpPr txBox="1"/>
          <p:nvPr/>
        </p:nvSpPr>
        <p:spPr>
          <a:xfrm>
            <a:off x="6190488" y="2761488"/>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Check Product &amp; Stock</a:t>
            </a:r>
            <a:endParaRPr lang="en-US" sz="1600" dirty="0"/>
          </a:p>
        </p:txBody>
      </p:sp>
      <p:sp>
        <p:nvSpPr>
          <p:cNvPr id="29" name="Flow badge 6"/>
          <p:cNvSpPr/>
          <p:nvPr/>
        </p:nvSpPr>
        <p:spPr>
          <a:xfrm>
            <a:off x="5779008" y="3081528"/>
            <a:ext cx="329184" cy="329184"/>
          </a:xfrm>
          <a:prstGeom prst="ellipse">
            <a:avLst/>
          </a:prstGeom>
          <a:solidFill>
            <a:schemeClr val="accent1"/>
          </a:solidFill>
          <a:ln/>
        </p:spPr>
        <p:txBody>
          <a:bodyPr/>
          <a:lstStyle/>
          <a:p>
            <a:endParaRPr lang="en-IN"/>
          </a:p>
        </p:txBody>
      </p:sp>
      <p:sp>
        <p:nvSpPr>
          <p:cNvPr id="30" name="Flow number 6"/>
          <p:cNvSpPr txBox="1"/>
          <p:nvPr/>
        </p:nvSpPr>
        <p:spPr>
          <a:xfrm>
            <a:off x="5779008" y="3081528"/>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31" name="Flow step 7"/>
          <p:cNvSpPr/>
          <p:nvPr/>
        </p:nvSpPr>
        <p:spPr>
          <a:xfrm>
            <a:off x="822960" y="3968496"/>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32" name="Flow text 7"/>
          <p:cNvSpPr txBox="1"/>
          <p:nvPr/>
        </p:nvSpPr>
        <p:spPr>
          <a:xfrm>
            <a:off x="1325880" y="3968496"/>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Calculate Sale Amount</a:t>
            </a:r>
            <a:endParaRPr lang="en-US" sz="1600" dirty="0"/>
          </a:p>
        </p:txBody>
      </p:sp>
      <p:sp>
        <p:nvSpPr>
          <p:cNvPr id="33" name="Flow badge 7"/>
          <p:cNvSpPr/>
          <p:nvPr/>
        </p:nvSpPr>
        <p:spPr>
          <a:xfrm>
            <a:off x="914400" y="4288536"/>
            <a:ext cx="329184" cy="329184"/>
          </a:xfrm>
          <a:prstGeom prst="ellipse">
            <a:avLst/>
          </a:prstGeom>
          <a:solidFill>
            <a:schemeClr val="accent1"/>
          </a:solidFill>
          <a:ln/>
        </p:spPr>
        <p:txBody>
          <a:bodyPr/>
          <a:lstStyle/>
          <a:p>
            <a:endParaRPr lang="en-IN"/>
          </a:p>
        </p:txBody>
      </p:sp>
      <p:sp>
        <p:nvSpPr>
          <p:cNvPr id="34" name="Flow number 7"/>
          <p:cNvSpPr txBox="1"/>
          <p:nvPr/>
        </p:nvSpPr>
        <p:spPr>
          <a:xfrm>
            <a:off x="914400" y="428853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5" name="Flow arrow 7"/>
          <p:cNvSpPr/>
          <p:nvPr/>
        </p:nvSpPr>
        <p:spPr>
          <a:xfrm>
            <a:off x="2962656" y="4325112"/>
            <a:ext cx="237744" cy="237744"/>
          </a:xfrm>
          <a:prstGeom prst="rightArrow">
            <a:avLst/>
          </a:prstGeom>
          <a:solidFill>
            <a:schemeClr val="accent1"/>
          </a:solidFill>
          <a:ln/>
        </p:spPr>
        <p:txBody>
          <a:bodyPr/>
          <a:lstStyle/>
          <a:p>
            <a:endParaRPr lang="en-IN"/>
          </a:p>
        </p:txBody>
      </p:sp>
      <p:sp>
        <p:nvSpPr>
          <p:cNvPr id="36" name="Flow step 8"/>
          <p:cNvSpPr/>
          <p:nvPr/>
        </p:nvSpPr>
        <p:spPr>
          <a:xfrm>
            <a:off x="3255264" y="3968496"/>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37" name="Flow text 8"/>
          <p:cNvSpPr txBox="1"/>
          <p:nvPr/>
        </p:nvSpPr>
        <p:spPr>
          <a:xfrm>
            <a:off x="3758184" y="3968496"/>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Update Stock</a:t>
            </a:r>
            <a:endParaRPr lang="en-US" sz="1600" dirty="0"/>
          </a:p>
        </p:txBody>
      </p:sp>
      <p:sp>
        <p:nvSpPr>
          <p:cNvPr id="38" name="Flow badge 8"/>
          <p:cNvSpPr/>
          <p:nvPr/>
        </p:nvSpPr>
        <p:spPr>
          <a:xfrm>
            <a:off x="3346704" y="4288536"/>
            <a:ext cx="329184" cy="329184"/>
          </a:xfrm>
          <a:prstGeom prst="ellipse">
            <a:avLst/>
          </a:prstGeom>
          <a:solidFill>
            <a:schemeClr val="accent1"/>
          </a:solidFill>
          <a:ln/>
        </p:spPr>
        <p:txBody>
          <a:bodyPr/>
          <a:lstStyle/>
          <a:p>
            <a:endParaRPr lang="en-IN"/>
          </a:p>
        </p:txBody>
      </p:sp>
      <p:sp>
        <p:nvSpPr>
          <p:cNvPr id="39" name="Flow number 8"/>
          <p:cNvSpPr txBox="1"/>
          <p:nvPr/>
        </p:nvSpPr>
        <p:spPr>
          <a:xfrm>
            <a:off x="3346704" y="428853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40" name="Flow arrow 8"/>
          <p:cNvSpPr/>
          <p:nvPr/>
        </p:nvSpPr>
        <p:spPr>
          <a:xfrm>
            <a:off x="5394960" y="4325112"/>
            <a:ext cx="237744" cy="237744"/>
          </a:xfrm>
          <a:prstGeom prst="rightArrow">
            <a:avLst/>
          </a:prstGeom>
          <a:solidFill>
            <a:schemeClr val="accent1"/>
          </a:solidFill>
          <a:ln/>
        </p:spPr>
        <p:txBody>
          <a:bodyPr/>
          <a:lstStyle/>
          <a:p>
            <a:endParaRPr lang="en-IN"/>
          </a:p>
        </p:txBody>
      </p:sp>
      <p:sp>
        <p:nvSpPr>
          <p:cNvPr id="41" name="Flow step 9"/>
          <p:cNvSpPr/>
          <p:nvPr/>
        </p:nvSpPr>
        <p:spPr>
          <a:xfrm>
            <a:off x="5687568" y="3968496"/>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42" name="Flow text 9"/>
          <p:cNvSpPr txBox="1"/>
          <p:nvPr/>
        </p:nvSpPr>
        <p:spPr>
          <a:xfrm>
            <a:off x="6190488" y="3968496"/>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Store Sale</a:t>
            </a:r>
            <a:endParaRPr lang="en-US" sz="1600" dirty="0"/>
          </a:p>
        </p:txBody>
      </p:sp>
      <p:sp>
        <p:nvSpPr>
          <p:cNvPr id="43" name="Flow badge 9"/>
          <p:cNvSpPr/>
          <p:nvPr/>
        </p:nvSpPr>
        <p:spPr>
          <a:xfrm>
            <a:off x="5779008" y="4288536"/>
            <a:ext cx="329184" cy="329184"/>
          </a:xfrm>
          <a:prstGeom prst="ellipse">
            <a:avLst/>
          </a:prstGeom>
          <a:solidFill>
            <a:schemeClr val="accent1"/>
          </a:solidFill>
          <a:ln/>
        </p:spPr>
        <p:txBody>
          <a:bodyPr/>
          <a:lstStyle/>
          <a:p>
            <a:endParaRPr lang="en-IN"/>
          </a:p>
        </p:txBody>
      </p:sp>
      <p:sp>
        <p:nvSpPr>
          <p:cNvPr id="44" name="Flow number 9"/>
          <p:cNvSpPr txBox="1"/>
          <p:nvPr/>
        </p:nvSpPr>
        <p:spPr>
          <a:xfrm>
            <a:off x="5779008" y="4288536"/>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9</a:t>
            </a:r>
            <a:endParaRPr lang="en-US" sz="1400" dirty="0"/>
          </a:p>
        </p:txBody>
      </p:sp>
      <p:sp>
        <p:nvSpPr>
          <p:cNvPr id="45" name="Flow step 10"/>
          <p:cNvSpPr/>
          <p:nvPr/>
        </p:nvSpPr>
        <p:spPr>
          <a:xfrm>
            <a:off x="822960" y="5175504"/>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46" name="Flow text 10"/>
          <p:cNvSpPr txBox="1"/>
          <p:nvPr/>
        </p:nvSpPr>
        <p:spPr>
          <a:xfrm>
            <a:off x="1325880" y="5175504"/>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Analyze Sales</a:t>
            </a:r>
            <a:endParaRPr lang="en-US" sz="1600" dirty="0"/>
          </a:p>
        </p:txBody>
      </p:sp>
      <p:sp>
        <p:nvSpPr>
          <p:cNvPr id="47" name="Flow badge 10"/>
          <p:cNvSpPr/>
          <p:nvPr/>
        </p:nvSpPr>
        <p:spPr>
          <a:xfrm>
            <a:off x="914400" y="5495544"/>
            <a:ext cx="329184" cy="329184"/>
          </a:xfrm>
          <a:prstGeom prst="ellipse">
            <a:avLst/>
          </a:prstGeom>
          <a:solidFill>
            <a:schemeClr val="accent1"/>
          </a:solidFill>
          <a:ln/>
        </p:spPr>
        <p:txBody>
          <a:bodyPr/>
          <a:lstStyle/>
          <a:p>
            <a:endParaRPr lang="en-IN"/>
          </a:p>
        </p:txBody>
      </p:sp>
      <p:sp>
        <p:nvSpPr>
          <p:cNvPr id="48" name="Flow number 10"/>
          <p:cNvSpPr txBox="1"/>
          <p:nvPr/>
        </p:nvSpPr>
        <p:spPr>
          <a:xfrm>
            <a:off x="914400" y="5495544"/>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10</a:t>
            </a:r>
            <a:endParaRPr lang="en-US" sz="1400" dirty="0"/>
          </a:p>
        </p:txBody>
      </p:sp>
      <p:sp>
        <p:nvSpPr>
          <p:cNvPr id="49" name="Flow arrow 10"/>
          <p:cNvSpPr/>
          <p:nvPr/>
        </p:nvSpPr>
        <p:spPr>
          <a:xfrm>
            <a:off x="2962656" y="5532120"/>
            <a:ext cx="237744" cy="237744"/>
          </a:xfrm>
          <a:prstGeom prst="rightArrow">
            <a:avLst/>
          </a:prstGeom>
          <a:solidFill>
            <a:schemeClr val="accent1"/>
          </a:solidFill>
          <a:ln/>
        </p:spPr>
        <p:txBody>
          <a:bodyPr/>
          <a:lstStyle/>
          <a:p>
            <a:endParaRPr lang="en-IN"/>
          </a:p>
        </p:txBody>
      </p:sp>
      <p:sp>
        <p:nvSpPr>
          <p:cNvPr id="50" name="Flow step 11"/>
          <p:cNvSpPr/>
          <p:nvPr/>
        </p:nvSpPr>
        <p:spPr>
          <a:xfrm>
            <a:off x="3255264" y="5175504"/>
            <a:ext cx="2084832" cy="950976"/>
          </a:xfrm>
          <a:prstGeom prst="roundRect">
            <a:avLst>
              <a:gd name="adj" fmla="val 9615"/>
            </a:avLst>
          </a:prstGeom>
          <a:solidFill>
            <a:schemeClr val="bg2"/>
          </a:solidFill>
          <a:ln w="19050">
            <a:solidFill>
              <a:schemeClr val="accent1"/>
            </a:solidFill>
            <a:prstDash val="solid"/>
          </a:ln>
        </p:spPr>
        <p:txBody>
          <a:bodyPr/>
          <a:lstStyle/>
          <a:p>
            <a:endParaRPr lang="en-IN"/>
          </a:p>
        </p:txBody>
      </p:sp>
      <p:sp>
        <p:nvSpPr>
          <p:cNvPr id="51" name="Flow text 11"/>
          <p:cNvSpPr txBox="1"/>
          <p:nvPr/>
        </p:nvSpPr>
        <p:spPr>
          <a:xfrm>
            <a:off x="3758184" y="5175504"/>
            <a:ext cx="1490472" cy="950976"/>
          </a:xfrm>
          <a:prstGeom prst="rect">
            <a:avLst/>
          </a:prstGeom>
          <a:noFill/>
          <a:ln/>
        </p:spPr>
        <p:txBody>
          <a:bodyPr wrap="square" lIns="0" tIns="0" rIns="0" bIns="0" rtlCol="0" anchor="ctr"/>
          <a:lstStyle/>
          <a:p>
            <a:pPr marL="0" indent="0" algn="l">
              <a:buNone/>
            </a:pPr>
            <a:r>
              <a:rPr lang="en-US" sz="1600" b="1" dirty="0">
                <a:solidFill>
                  <a:schemeClr val="tx1"/>
                </a:solidFill>
              </a:rPr>
              <a:t>Generate Chart</a:t>
            </a:r>
            <a:endParaRPr lang="en-US" sz="1600" dirty="0"/>
          </a:p>
        </p:txBody>
      </p:sp>
      <p:sp>
        <p:nvSpPr>
          <p:cNvPr id="52" name="Flow badge 11"/>
          <p:cNvSpPr/>
          <p:nvPr/>
        </p:nvSpPr>
        <p:spPr>
          <a:xfrm>
            <a:off x="3346704" y="5495544"/>
            <a:ext cx="329184" cy="329184"/>
          </a:xfrm>
          <a:prstGeom prst="ellipse">
            <a:avLst/>
          </a:prstGeom>
          <a:solidFill>
            <a:schemeClr val="accent1"/>
          </a:solidFill>
          <a:ln/>
        </p:spPr>
        <p:txBody>
          <a:bodyPr/>
          <a:lstStyle/>
          <a:p>
            <a:endParaRPr lang="en-IN"/>
          </a:p>
        </p:txBody>
      </p:sp>
      <p:sp>
        <p:nvSpPr>
          <p:cNvPr id="53" name="Flow number 11"/>
          <p:cNvSpPr txBox="1"/>
          <p:nvPr/>
        </p:nvSpPr>
        <p:spPr>
          <a:xfrm>
            <a:off x="3346704" y="5495544"/>
            <a:ext cx="329184" cy="329184"/>
          </a:xfrm>
          <a:prstGeom prst="rect">
            <a:avLst/>
          </a:prstGeom>
          <a:noFill/>
          <a:ln/>
        </p:spPr>
        <p:txBody>
          <a:bodyPr wrap="square" lIns="0" tIns="0" rIns="0" bIns="0" rtlCol="0" anchor="ctr"/>
          <a:lstStyle/>
          <a:p>
            <a:pPr marL="0" indent="0" algn="ctr">
              <a:buNone/>
            </a:pPr>
            <a:r>
              <a:rPr lang="en-US" sz="1400" b="1" dirty="0">
                <a:solidFill>
                  <a:schemeClr val="bg1"/>
                </a:solidFill>
              </a:rPr>
              <a:t>11</a:t>
            </a:r>
            <a:endParaRPr lang="en-US" sz="1400" dirty="0"/>
          </a:p>
        </p:txBody>
      </p:sp>
      <p:sp>
        <p:nvSpPr>
          <p:cNvPr id="54" name="Inventory Class card"/>
          <p:cNvSpPr/>
          <p:nvPr/>
        </p:nvSpPr>
        <p:spPr>
          <a:xfrm>
            <a:off x="8092440" y="1554480"/>
            <a:ext cx="3273552" cy="2148840"/>
          </a:xfrm>
          <a:prstGeom prst="roundRect">
            <a:avLst>
              <a:gd name="adj" fmla="val 5106"/>
            </a:avLst>
          </a:prstGeom>
          <a:solidFill>
            <a:schemeClr val="bg2"/>
          </a:solidFill>
          <a:ln/>
        </p:spPr>
        <p:txBody>
          <a:bodyPr/>
          <a:lstStyle/>
          <a:p>
            <a:endParaRPr lang="en-IN"/>
          </a:p>
        </p:txBody>
      </p:sp>
      <p:sp>
        <p:nvSpPr>
          <p:cNvPr id="55" name="Inventory Class circle"/>
          <p:cNvSpPr/>
          <p:nvPr/>
        </p:nvSpPr>
        <p:spPr>
          <a:xfrm>
            <a:off x="8321040" y="1755648"/>
            <a:ext cx="457200" cy="457200"/>
          </a:xfrm>
          <a:prstGeom prst="ellipse">
            <a:avLst/>
          </a:prstGeom>
          <a:solidFill>
            <a:schemeClr val="accent1"/>
          </a:solidFill>
          <a:ln/>
        </p:spPr>
        <p:txBody>
          <a:bodyPr/>
          <a:lstStyle/>
          <a:p>
            <a:endParaRPr lang="en-IN"/>
          </a:p>
        </p:txBody>
      </p:sp>
      <p:pic>
        <p:nvPicPr>
          <p:cNvPr id="56" name="Inventory Class icon" descr="cubes icon"/>
          <p:cNvPicPr>
            <a:picLocks noChangeAspect="1"/>
          </p:cNvPicPr>
          <p:nvPr/>
        </p:nvPicPr>
        <p:blipFill>
          <a:blip r:embed="rId3"/>
          <a:stretch>
            <a:fillRect/>
          </a:stretch>
        </p:blipFill>
        <p:spPr>
          <a:xfrm>
            <a:off x="8435340" y="1869948"/>
            <a:ext cx="228600" cy="228600"/>
          </a:xfrm>
          <a:prstGeom prst="rect">
            <a:avLst/>
          </a:prstGeom>
        </p:spPr>
      </p:pic>
      <p:sp>
        <p:nvSpPr>
          <p:cNvPr id="57" name="Inventory Class title"/>
          <p:cNvSpPr txBox="1"/>
          <p:nvPr/>
        </p:nvSpPr>
        <p:spPr>
          <a:xfrm>
            <a:off x="8961120" y="1755648"/>
            <a:ext cx="2267712" cy="457200"/>
          </a:xfrm>
          <a:prstGeom prst="rect">
            <a:avLst/>
          </a:prstGeom>
          <a:noFill/>
          <a:ln/>
        </p:spPr>
        <p:txBody>
          <a:bodyPr wrap="square" lIns="0" tIns="0" rIns="0" bIns="0" rtlCol="0" anchor="ctr"/>
          <a:lstStyle/>
          <a:p>
            <a:pPr marL="0" indent="0" algn="l">
              <a:buNone/>
            </a:pPr>
            <a:r>
              <a:rPr lang="en-US" sz="2000" b="1" dirty="0">
                <a:solidFill>
                  <a:schemeClr val="tx1"/>
                </a:solidFill>
              </a:rPr>
              <a:t>Inventory Class</a:t>
            </a:r>
            <a:endParaRPr lang="en-US" sz="2000" dirty="0"/>
          </a:p>
        </p:txBody>
      </p:sp>
      <p:sp>
        <p:nvSpPr>
          <p:cNvPr id="58" name="Inventory Class points"/>
          <p:cNvSpPr txBox="1"/>
          <p:nvPr/>
        </p:nvSpPr>
        <p:spPr>
          <a:xfrm>
            <a:off x="8366760" y="2423160"/>
            <a:ext cx="2816352" cy="118872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Database operations</a:t>
            </a:r>
            <a:endParaRPr lang="en-US" sz="1600" dirty="0"/>
          </a:p>
          <a:p>
            <a:pPr marL="342900" indent="-342900" algn="l">
              <a:spcAft>
                <a:spcPts val="400"/>
              </a:spcAft>
              <a:buSzPct val="100000"/>
              <a:buChar char="•"/>
            </a:pPr>
            <a:r>
              <a:rPr lang="en-US" sz="1600" dirty="0">
                <a:solidFill>
                  <a:schemeClr val="tx1"/>
                </a:solidFill>
              </a:rPr>
              <a:t>Product management</a:t>
            </a:r>
            <a:endParaRPr lang="en-US" sz="1600" dirty="0"/>
          </a:p>
          <a:p>
            <a:pPr marL="342900" indent="-342900" algn="l">
              <a:spcAft>
                <a:spcPts val="400"/>
              </a:spcAft>
              <a:buSzPct val="100000"/>
              <a:buChar char="•"/>
            </a:pPr>
            <a:r>
              <a:rPr lang="en-US" sz="1600" dirty="0">
                <a:solidFill>
                  <a:schemeClr val="tx1"/>
                </a:solidFill>
              </a:rPr>
              <a:t>Sales processing</a:t>
            </a:r>
            <a:endParaRPr lang="en-US" sz="1600" dirty="0"/>
          </a:p>
        </p:txBody>
      </p:sp>
      <p:sp>
        <p:nvSpPr>
          <p:cNvPr id="59" name="App Class card"/>
          <p:cNvSpPr/>
          <p:nvPr/>
        </p:nvSpPr>
        <p:spPr>
          <a:xfrm>
            <a:off x="8092440" y="3977640"/>
            <a:ext cx="3273552" cy="2148840"/>
          </a:xfrm>
          <a:prstGeom prst="roundRect">
            <a:avLst>
              <a:gd name="adj" fmla="val 5106"/>
            </a:avLst>
          </a:prstGeom>
          <a:solidFill>
            <a:schemeClr val="bg2"/>
          </a:solidFill>
          <a:ln/>
        </p:spPr>
        <p:txBody>
          <a:bodyPr/>
          <a:lstStyle/>
          <a:p>
            <a:endParaRPr lang="en-IN"/>
          </a:p>
        </p:txBody>
      </p:sp>
      <p:sp>
        <p:nvSpPr>
          <p:cNvPr id="60" name="App Class circle"/>
          <p:cNvSpPr/>
          <p:nvPr/>
        </p:nvSpPr>
        <p:spPr>
          <a:xfrm>
            <a:off x="8321040" y="4178808"/>
            <a:ext cx="457200" cy="457200"/>
          </a:xfrm>
          <a:prstGeom prst="ellipse">
            <a:avLst/>
          </a:prstGeom>
          <a:solidFill>
            <a:schemeClr val="accent1"/>
          </a:solidFill>
          <a:ln/>
        </p:spPr>
        <p:txBody>
          <a:bodyPr/>
          <a:lstStyle/>
          <a:p>
            <a:endParaRPr lang="en-IN"/>
          </a:p>
        </p:txBody>
      </p:sp>
      <p:pic>
        <p:nvPicPr>
          <p:cNvPr id="61" name="App Class icon" descr="win icon"/>
          <p:cNvPicPr>
            <a:picLocks noChangeAspect="1"/>
          </p:cNvPicPr>
          <p:nvPr/>
        </p:nvPicPr>
        <p:blipFill>
          <a:blip r:embed="rId4"/>
          <a:stretch>
            <a:fillRect/>
          </a:stretch>
        </p:blipFill>
        <p:spPr>
          <a:xfrm>
            <a:off x="8435340" y="4293108"/>
            <a:ext cx="228600" cy="228600"/>
          </a:xfrm>
          <a:prstGeom prst="rect">
            <a:avLst/>
          </a:prstGeom>
        </p:spPr>
      </p:pic>
      <p:sp>
        <p:nvSpPr>
          <p:cNvPr id="62" name="App Class title"/>
          <p:cNvSpPr txBox="1"/>
          <p:nvPr/>
        </p:nvSpPr>
        <p:spPr>
          <a:xfrm>
            <a:off x="8961120" y="4178808"/>
            <a:ext cx="2267712" cy="457200"/>
          </a:xfrm>
          <a:prstGeom prst="rect">
            <a:avLst/>
          </a:prstGeom>
          <a:noFill/>
          <a:ln/>
        </p:spPr>
        <p:txBody>
          <a:bodyPr wrap="square" lIns="0" tIns="0" rIns="0" bIns="0" rtlCol="0" anchor="ctr"/>
          <a:lstStyle/>
          <a:p>
            <a:pPr marL="0" indent="0" algn="l">
              <a:buNone/>
            </a:pPr>
            <a:r>
              <a:rPr lang="en-US" sz="2000" b="1" dirty="0">
                <a:solidFill>
                  <a:schemeClr val="tx1"/>
                </a:solidFill>
              </a:rPr>
              <a:t>App Class</a:t>
            </a:r>
            <a:endParaRPr lang="en-US" sz="2000" dirty="0"/>
          </a:p>
        </p:txBody>
      </p:sp>
      <p:sp>
        <p:nvSpPr>
          <p:cNvPr id="63" name="App Class points"/>
          <p:cNvSpPr txBox="1"/>
          <p:nvPr/>
        </p:nvSpPr>
        <p:spPr>
          <a:xfrm>
            <a:off x="8366760" y="4846320"/>
            <a:ext cx="2816352" cy="118872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GUI creation</a:t>
            </a:r>
            <a:endParaRPr lang="en-US" sz="1600" dirty="0"/>
          </a:p>
          <a:p>
            <a:pPr marL="342900" indent="-342900" algn="l">
              <a:spcAft>
                <a:spcPts val="400"/>
              </a:spcAft>
              <a:buSzPct val="100000"/>
              <a:buChar char="•"/>
            </a:pPr>
            <a:r>
              <a:rPr lang="en-US" sz="1600" dirty="0">
                <a:solidFill>
                  <a:schemeClr val="tx1"/>
                </a:solidFill>
              </a:rPr>
              <a:t>User interaction</a:t>
            </a:r>
            <a:endParaRPr lang="en-US" sz="1600" dirty="0"/>
          </a:p>
          <a:p>
            <a:pPr marL="342900" indent="-342900" algn="l">
              <a:spcAft>
                <a:spcPts val="400"/>
              </a:spcAft>
              <a:buSzPct val="100000"/>
              <a:buChar char="•"/>
            </a:pPr>
            <a:r>
              <a:rPr lang="en-US" sz="1600" dirty="0">
                <a:solidFill>
                  <a:schemeClr val="tx1"/>
                </a:solidFill>
              </a:rPr>
              <a:t>Analytics display</a:t>
            </a:r>
            <a:endParaRPr lang="en-US" sz="1600" dirty="0"/>
          </a:p>
        </p:txBody>
      </p:sp>
      <p:sp>
        <p:nvSpPr>
          <p:cNvPr id="64"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Implementation &amp; Sales Analytics</a:t>
            </a:r>
            <a:endParaRPr lang="en-US" sz="3200" dirty="0"/>
          </a:p>
        </p:txBody>
      </p:sp>
      <p:sp>
        <p:nvSpPr>
          <p:cNvPr id="3" name="OOP card"/>
          <p:cNvSpPr/>
          <p:nvPr/>
        </p:nvSpPr>
        <p:spPr>
          <a:xfrm>
            <a:off x="822960" y="1554480"/>
            <a:ext cx="2464308" cy="2194560"/>
          </a:xfrm>
          <a:prstGeom prst="roundRect">
            <a:avLst>
              <a:gd name="adj" fmla="val 5000"/>
            </a:avLst>
          </a:prstGeom>
          <a:solidFill>
            <a:schemeClr val="bg2"/>
          </a:solidFill>
          <a:ln/>
        </p:spPr>
        <p:txBody>
          <a:bodyPr/>
          <a:lstStyle/>
          <a:p>
            <a:endParaRPr lang="en-IN"/>
          </a:p>
        </p:txBody>
      </p:sp>
      <p:sp>
        <p:nvSpPr>
          <p:cNvPr id="4" name="OOP circle"/>
          <p:cNvSpPr/>
          <p:nvPr/>
        </p:nvSpPr>
        <p:spPr>
          <a:xfrm>
            <a:off x="1051560" y="1755648"/>
            <a:ext cx="457200" cy="457200"/>
          </a:xfrm>
          <a:prstGeom prst="ellipse">
            <a:avLst/>
          </a:prstGeom>
          <a:solidFill>
            <a:schemeClr val="accent1"/>
          </a:solidFill>
          <a:ln/>
        </p:spPr>
        <p:txBody>
          <a:bodyPr/>
          <a:lstStyle/>
          <a:p>
            <a:endParaRPr lang="en-IN"/>
          </a:p>
        </p:txBody>
      </p:sp>
      <p:pic>
        <p:nvPicPr>
          <p:cNvPr id="5" name="OOP icon" descr="cubes icon"/>
          <p:cNvPicPr>
            <a:picLocks noChangeAspect="1"/>
          </p:cNvPicPr>
          <p:nvPr/>
        </p:nvPicPr>
        <p:blipFill>
          <a:blip r:embed="rId3"/>
          <a:stretch>
            <a:fillRect/>
          </a:stretch>
        </p:blipFill>
        <p:spPr>
          <a:xfrm>
            <a:off x="1165860" y="1869948"/>
            <a:ext cx="228600" cy="228600"/>
          </a:xfrm>
          <a:prstGeom prst="rect">
            <a:avLst/>
          </a:prstGeom>
        </p:spPr>
      </p:pic>
      <p:sp>
        <p:nvSpPr>
          <p:cNvPr id="6" name="OOP title"/>
          <p:cNvSpPr txBox="1"/>
          <p:nvPr/>
        </p:nvSpPr>
        <p:spPr>
          <a:xfrm>
            <a:off x="1645920" y="1755648"/>
            <a:ext cx="1549908" cy="457200"/>
          </a:xfrm>
          <a:prstGeom prst="rect">
            <a:avLst/>
          </a:prstGeom>
          <a:noFill/>
          <a:ln/>
        </p:spPr>
        <p:txBody>
          <a:bodyPr wrap="square" lIns="0" tIns="0" rIns="0" bIns="0" rtlCol="0" anchor="ctr"/>
          <a:lstStyle/>
          <a:p>
            <a:pPr marL="0" indent="0" algn="l">
              <a:buNone/>
            </a:pPr>
            <a:r>
              <a:rPr lang="en-US" sz="2000" b="1" dirty="0">
                <a:solidFill>
                  <a:schemeClr val="tx1"/>
                </a:solidFill>
              </a:rPr>
              <a:t>OOP</a:t>
            </a:r>
            <a:endParaRPr lang="en-US" sz="2000" dirty="0"/>
          </a:p>
        </p:txBody>
      </p:sp>
      <p:sp>
        <p:nvSpPr>
          <p:cNvPr id="7" name="OOP points"/>
          <p:cNvSpPr txBox="1"/>
          <p:nvPr/>
        </p:nvSpPr>
        <p:spPr>
          <a:xfrm>
            <a:off x="1051560" y="2423160"/>
            <a:ext cx="2098548" cy="12344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Inventory class</a:t>
            </a:r>
            <a:endParaRPr lang="en-US" sz="1600" dirty="0"/>
          </a:p>
          <a:p>
            <a:pPr marL="342900" indent="-342900" algn="l">
              <a:spcAft>
                <a:spcPts val="400"/>
              </a:spcAft>
              <a:buSzPct val="100000"/>
              <a:buChar char="•"/>
            </a:pPr>
            <a:r>
              <a:rPr lang="en-US" sz="1600" dirty="0">
                <a:solidFill>
                  <a:schemeClr val="tx1"/>
                </a:solidFill>
              </a:rPr>
              <a:t>App class</a:t>
            </a:r>
            <a:endParaRPr lang="en-US" sz="1600" dirty="0"/>
          </a:p>
        </p:txBody>
      </p:sp>
      <p:sp>
        <p:nvSpPr>
          <p:cNvPr id="8" name="SQLite card"/>
          <p:cNvSpPr/>
          <p:nvPr/>
        </p:nvSpPr>
        <p:spPr>
          <a:xfrm>
            <a:off x="3515868" y="1554480"/>
            <a:ext cx="2464308" cy="2194560"/>
          </a:xfrm>
          <a:prstGeom prst="roundRect">
            <a:avLst>
              <a:gd name="adj" fmla="val 5000"/>
            </a:avLst>
          </a:prstGeom>
          <a:solidFill>
            <a:schemeClr val="bg2"/>
          </a:solidFill>
          <a:ln/>
        </p:spPr>
        <p:txBody>
          <a:bodyPr/>
          <a:lstStyle/>
          <a:p>
            <a:endParaRPr lang="en-IN"/>
          </a:p>
        </p:txBody>
      </p:sp>
      <p:sp>
        <p:nvSpPr>
          <p:cNvPr id="9" name="SQLite circle"/>
          <p:cNvSpPr/>
          <p:nvPr/>
        </p:nvSpPr>
        <p:spPr>
          <a:xfrm>
            <a:off x="3744468" y="1755648"/>
            <a:ext cx="457200" cy="457200"/>
          </a:xfrm>
          <a:prstGeom prst="ellipse">
            <a:avLst/>
          </a:prstGeom>
          <a:solidFill>
            <a:schemeClr val="accent1"/>
          </a:solidFill>
          <a:ln/>
        </p:spPr>
        <p:txBody>
          <a:bodyPr/>
          <a:lstStyle/>
          <a:p>
            <a:endParaRPr lang="en-IN"/>
          </a:p>
        </p:txBody>
      </p:sp>
      <p:pic>
        <p:nvPicPr>
          <p:cNvPr id="10" name="SQLite icon" descr="db icon"/>
          <p:cNvPicPr>
            <a:picLocks noChangeAspect="1"/>
          </p:cNvPicPr>
          <p:nvPr/>
        </p:nvPicPr>
        <p:blipFill>
          <a:blip r:embed="rId4"/>
          <a:stretch>
            <a:fillRect/>
          </a:stretch>
        </p:blipFill>
        <p:spPr>
          <a:xfrm>
            <a:off x="3858768" y="1869948"/>
            <a:ext cx="228600" cy="228600"/>
          </a:xfrm>
          <a:prstGeom prst="rect">
            <a:avLst/>
          </a:prstGeom>
        </p:spPr>
      </p:pic>
      <p:sp>
        <p:nvSpPr>
          <p:cNvPr id="11" name="SQLite title"/>
          <p:cNvSpPr txBox="1"/>
          <p:nvPr/>
        </p:nvSpPr>
        <p:spPr>
          <a:xfrm>
            <a:off x="4338828" y="1755648"/>
            <a:ext cx="1549908" cy="457200"/>
          </a:xfrm>
          <a:prstGeom prst="rect">
            <a:avLst/>
          </a:prstGeom>
          <a:noFill/>
          <a:ln/>
        </p:spPr>
        <p:txBody>
          <a:bodyPr wrap="square" lIns="0" tIns="0" rIns="0" bIns="0" rtlCol="0" anchor="ctr"/>
          <a:lstStyle/>
          <a:p>
            <a:pPr marL="0" indent="0" algn="l">
              <a:buNone/>
            </a:pPr>
            <a:r>
              <a:rPr lang="en-US" sz="2000" b="1" dirty="0">
                <a:solidFill>
                  <a:schemeClr val="tx1"/>
                </a:solidFill>
              </a:rPr>
              <a:t>SQLite</a:t>
            </a:r>
            <a:endParaRPr lang="en-US" sz="2000" dirty="0"/>
          </a:p>
        </p:txBody>
      </p:sp>
      <p:sp>
        <p:nvSpPr>
          <p:cNvPr id="12" name="SQLite points"/>
          <p:cNvSpPr txBox="1"/>
          <p:nvPr/>
        </p:nvSpPr>
        <p:spPr>
          <a:xfrm>
            <a:off x="3744468" y="2423160"/>
            <a:ext cx="2098548" cy="12344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products table</a:t>
            </a:r>
            <a:endParaRPr lang="en-US" sz="1600" dirty="0"/>
          </a:p>
          <a:p>
            <a:pPr marL="342900" indent="-342900" algn="l">
              <a:spcAft>
                <a:spcPts val="400"/>
              </a:spcAft>
              <a:buSzPct val="100000"/>
              <a:buChar char="•"/>
            </a:pPr>
            <a:r>
              <a:rPr lang="en-US" sz="1600" dirty="0">
                <a:solidFill>
                  <a:schemeClr val="tx1"/>
                </a:solidFill>
              </a:rPr>
              <a:t>sales table</a:t>
            </a:r>
            <a:endParaRPr lang="en-US" sz="1600" dirty="0"/>
          </a:p>
        </p:txBody>
      </p:sp>
      <p:sp>
        <p:nvSpPr>
          <p:cNvPr id="13" name="Pandas card"/>
          <p:cNvSpPr/>
          <p:nvPr/>
        </p:nvSpPr>
        <p:spPr>
          <a:xfrm>
            <a:off x="6208776" y="1554480"/>
            <a:ext cx="2464308" cy="2194560"/>
          </a:xfrm>
          <a:prstGeom prst="roundRect">
            <a:avLst>
              <a:gd name="adj" fmla="val 5000"/>
            </a:avLst>
          </a:prstGeom>
          <a:solidFill>
            <a:schemeClr val="bg2"/>
          </a:solidFill>
          <a:ln/>
        </p:spPr>
        <p:txBody>
          <a:bodyPr/>
          <a:lstStyle/>
          <a:p>
            <a:endParaRPr lang="en-IN"/>
          </a:p>
        </p:txBody>
      </p:sp>
      <p:sp>
        <p:nvSpPr>
          <p:cNvPr id="14" name="Pandas circle"/>
          <p:cNvSpPr/>
          <p:nvPr/>
        </p:nvSpPr>
        <p:spPr>
          <a:xfrm>
            <a:off x="6437376" y="1755648"/>
            <a:ext cx="457200" cy="457200"/>
          </a:xfrm>
          <a:prstGeom prst="ellipse">
            <a:avLst/>
          </a:prstGeom>
          <a:solidFill>
            <a:schemeClr val="accent1"/>
          </a:solidFill>
          <a:ln/>
        </p:spPr>
        <p:txBody>
          <a:bodyPr/>
          <a:lstStyle/>
          <a:p>
            <a:endParaRPr lang="en-IN"/>
          </a:p>
        </p:txBody>
      </p:sp>
      <p:pic>
        <p:nvPicPr>
          <p:cNvPr id="15" name="Pandas icon" descr="table icon"/>
          <p:cNvPicPr>
            <a:picLocks noChangeAspect="1"/>
          </p:cNvPicPr>
          <p:nvPr/>
        </p:nvPicPr>
        <p:blipFill>
          <a:blip r:embed="rId5"/>
          <a:stretch>
            <a:fillRect/>
          </a:stretch>
        </p:blipFill>
        <p:spPr>
          <a:xfrm>
            <a:off x="6551676" y="1869948"/>
            <a:ext cx="228600" cy="228600"/>
          </a:xfrm>
          <a:prstGeom prst="rect">
            <a:avLst/>
          </a:prstGeom>
        </p:spPr>
      </p:pic>
      <p:sp>
        <p:nvSpPr>
          <p:cNvPr id="16" name="Pandas title"/>
          <p:cNvSpPr txBox="1"/>
          <p:nvPr/>
        </p:nvSpPr>
        <p:spPr>
          <a:xfrm>
            <a:off x="7031736" y="1755648"/>
            <a:ext cx="1549908" cy="457200"/>
          </a:xfrm>
          <a:prstGeom prst="rect">
            <a:avLst/>
          </a:prstGeom>
          <a:noFill/>
          <a:ln/>
        </p:spPr>
        <p:txBody>
          <a:bodyPr wrap="square" lIns="0" tIns="0" rIns="0" bIns="0" rtlCol="0" anchor="ctr"/>
          <a:lstStyle/>
          <a:p>
            <a:pPr marL="0" indent="0" algn="l">
              <a:buNone/>
            </a:pPr>
            <a:r>
              <a:rPr lang="en-US" sz="2000" b="1" dirty="0">
                <a:solidFill>
                  <a:schemeClr val="tx1"/>
                </a:solidFill>
              </a:rPr>
              <a:t>Pandas</a:t>
            </a:r>
            <a:endParaRPr lang="en-US" sz="2000" dirty="0"/>
          </a:p>
        </p:txBody>
      </p:sp>
      <p:sp>
        <p:nvSpPr>
          <p:cNvPr id="17" name="Pandas points"/>
          <p:cNvSpPr txBox="1"/>
          <p:nvPr/>
        </p:nvSpPr>
        <p:spPr>
          <a:xfrm>
            <a:off x="6437376" y="2423160"/>
            <a:ext cx="2098548" cy="12344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DataFrame</a:t>
            </a:r>
            <a:endParaRPr lang="en-US" sz="1600" dirty="0"/>
          </a:p>
          <a:p>
            <a:pPr marL="342900" indent="-342900" algn="l">
              <a:spcAft>
                <a:spcPts val="400"/>
              </a:spcAft>
              <a:buSzPct val="100000"/>
              <a:buChar char="•"/>
            </a:pPr>
            <a:r>
              <a:rPr lang="en-US" sz="1600" dirty="0">
                <a:solidFill>
                  <a:schemeClr val="tx1"/>
                </a:solidFill>
              </a:rPr>
              <a:t>Total revenue</a:t>
            </a:r>
            <a:endParaRPr lang="en-US" sz="1600" dirty="0"/>
          </a:p>
          <a:p>
            <a:pPr marL="342900" indent="-342900" algn="l">
              <a:spcAft>
                <a:spcPts val="400"/>
              </a:spcAft>
              <a:buSzPct val="100000"/>
              <a:buChar char="•"/>
            </a:pPr>
            <a:r>
              <a:rPr lang="en-US" sz="1600" dirty="0">
                <a:solidFill>
                  <a:schemeClr val="tx1"/>
                </a:solidFill>
              </a:rPr>
              <a:t>Best-selling product</a:t>
            </a:r>
            <a:endParaRPr lang="en-US" sz="1600" dirty="0"/>
          </a:p>
          <a:p>
            <a:pPr marL="342900" indent="-342900" algn="l">
              <a:spcAft>
                <a:spcPts val="400"/>
              </a:spcAft>
              <a:buSzPct val="100000"/>
              <a:buChar char="•"/>
            </a:pPr>
            <a:r>
              <a:rPr lang="en-US" sz="1600" dirty="0">
                <a:solidFill>
                  <a:schemeClr val="tx1"/>
                </a:solidFill>
              </a:rPr>
              <a:t>groupby()</a:t>
            </a:r>
            <a:endParaRPr lang="en-US" sz="1600" dirty="0"/>
          </a:p>
        </p:txBody>
      </p:sp>
      <p:sp>
        <p:nvSpPr>
          <p:cNvPr id="18" name="Matplotlib card"/>
          <p:cNvSpPr/>
          <p:nvPr/>
        </p:nvSpPr>
        <p:spPr>
          <a:xfrm>
            <a:off x="8901684" y="1554480"/>
            <a:ext cx="2464308" cy="2194560"/>
          </a:xfrm>
          <a:prstGeom prst="roundRect">
            <a:avLst>
              <a:gd name="adj" fmla="val 5000"/>
            </a:avLst>
          </a:prstGeom>
          <a:solidFill>
            <a:schemeClr val="bg2"/>
          </a:solidFill>
          <a:ln/>
        </p:spPr>
        <p:txBody>
          <a:bodyPr/>
          <a:lstStyle/>
          <a:p>
            <a:endParaRPr lang="en-IN"/>
          </a:p>
        </p:txBody>
      </p:sp>
      <p:sp>
        <p:nvSpPr>
          <p:cNvPr id="19" name="Matplotlib circle"/>
          <p:cNvSpPr/>
          <p:nvPr/>
        </p:nvSpPr>
        <p:spPr>
          <a:xfrm>
            <a:off x="9130284" y="1755648"/>
            <a:ext cx="457200" cy="457200"/>
          </a:xfrm>
          <a:prstGeom prst="ellipse">
            <a:avLst/>
          </a:prstGeom>
          <a:solidFill>
            <a:schemeClr val="accent1"/>
          </a:solidFill>
          <a:ln/>
        </p:spPr>
        <p:txBody>
          <a:bodyPr/>
          <a:lstStyle/>
          <a:p>
            <a:endParaRPr lang="en-IN"/>
          </a:p>
        </p:txBody>
      </p:sp>
      <p:pic>
        <p:nvPicPr>
          <p:cNvPr id="20" name="Matplotlib icon" descr="chart icon"/>
          <p:cNvPicPr>
            <a:picLocks noChangeAspect="1"/>
          </p:cNvPicPr>
          <p:nvPr/>
        </p:nvPicPr>
        <p:blipFill>
          <a:blip r:embed="rId6"/>
          <a:stretch>
            <a:fillRect/>
          </a:stretch>
        </p:blipFill>
        <p:spPr>
          <a:xfrm>
            <a:off x="9244584" y="1869948"/>
            <a:ext cx="228600" cy="228600"/>
          </a:xfrm>
          <a:prstGeom prst="rect">
            <a:avLst/>
          </a:prstGeom>
        </p:spPr>
      </p:pic>
      <p:sp>
        <p:nvSpPr>
          <p:cNvPr id="21" name="Matplotlib title"/>
          <p:cNvSpPr txBox="1"/>
          <p:nvPr/>
        </p:nvSpPr>
        <p:spPr>
          <a:xfrm>
            <a:off x="9724644" y="1755648"/>
            <a:ext cx="1549908" cy="457200"/>
          </a:xfrm>
          <a:prstGeom prst="rect">
            <a:avLst/>
          </a:prstGeom>
          <a:noFill/>
          <a:ln/>
        </p:spPr>
        <p:txBody>
          <a:bodyPr wrap="square" lIns="0" tIns="0" rIns="0" bIns="0" rtlCol="0" anchor="ctr"/>
          <a:lstStyle/>
          <a:p>
            <a:pPr marL="0" indent="0" algn="l">
              <a:buNone/>
            </a:pPr>
            <a:r>
              <a:rPr lang="en-US" sz="2000" b="1" dirty="0">
                <a:solidFill>
                  <a:schemeClr val="tx1"/>
                </a:solidFill>
              </a:rPr>
              <a:t>Matplotlib</a:t>
            </a:r>
            <a:endParaRPr lang="en-US" sz="2000" dirty="0"/>
          </a:p>
        </p:txBody>
      </p:sp>
      <p:sp>
        <p:nvSpPr>
          <p:cNvPr id="22" name="Matplotlib points"/>
          <p:cNvSpPr txBox="1"/>
          <p:nvPr/>
        </p:nvSpPr>
        <p:spPr>
          <a:xfrm>
            <a:off x="9130284" y="2423160"/>
            <a:ext cx="2098548" cy="1234440"/>
          </a:xfrm>
          <a:prstGeom prst="rect">
            <a:avLst/>
          </a:prstGeom>
          <a:noFill/>
          <a:ln/>
        </p:spPr>
        <p:txBody>
          <a:bodyPr wrap="square" lIns="0" tIns="0" rIns="0" bIns="0" rtlCol="0" anchor="t"/>
          <a:lstStyle/>
          <a:p>
            <a:pPr marL="342900" indent="-342900" algn="l">
              <a:spcAft>
                <a:spcPts val="400"/>
              </a:spcAft>
              <a:buSzPct val="100000"/>
              <a:buChar char="•"/>
            </a:pPr>
            <a:r>
              <a:rPr lang="en-US" sz="1600" dirty="0">
                <a:solidFill>
                  <a:schemeClr val="tx1"/>
                </a:solidFill>
              </a:rPr>
              <a:t>Category-wise sales bar chart</a:t>
            </a:r>
            <a:endParaRPr lang="en-US" sz="1600" dirty="0"/>
          </a:p>
        </p:txBody>
      </p:sp>
      <p:sp>
        <p:nvSpPr>
          <p:cNvPr id="23" name="PRODUCTS card"/>
          <p:cNvSpPr/>
          <p:nvPr/>
        </p:nvSpPr>
        <p:spPr>
          <a:xfrm>
            <a:off x="822960" y="3977640"/>
            <a:ext cx="5157216" cy="2148840"/>
          </a:xfrm>
          <a:prstGeom prst="roundRect">
            <a:avLst>
              <a:gd name="adj" fmla="val 5106"/>
            </a:avLst>
          </a:prstGeom>
          <a:solidFill>
            <a:schemeClr val="bg2"/>
          </a:solidFill>
          <a:ln/>
        </p:spPr>
        <p:txBody>
          <a:bodyPr/>
          <a:lstStyle/>
          <a:p>
            <a:endParaRPr lang="en-IN"/>
          </a:p>
        </p:txBody>
      </p:sp>
      <p:sp>
        <p:nvSpPr>
          <p:cNvPr id="24" name="PRODUCTS label"/>
          <p:cNvSpPr txBox="1"/>
          <p:nvPr/>
        </p:nvSpPr>
        <p:spPr>
          <a:xfrm>
            <a:off x="1097280" y="4087368"/>
            <a:ext cx="4608576" cy="365760"/>
          </a:xfrm>
          <a:prstGeom prst="rect">
            <a:avLst/>
          </a:prstGeom>
          <a:noFill/>
          <a:ln/>
        </p:spPr>
        <p:txBody>
          <a:bodyPr wrap="square" lIns="0" tIns="0" rIns="0" bIns="0" rtlCol="0" anchor="ctr"/>
          <a:lstStyle/>
          <a:p>
            <a:pPr marL="0" indent="0" algn="l">
              <a:buNone/>
            </a:pPr>
            <a:r>
              <a:rPr lang="en-US" sz="1800" b="1" dirty="0">
                <a:solidFill>
                  <a:schemeClr val="accent1"/>
                </a:solidFill>
              </a:rPr>
              <a:t>PRODUCTS table</a:t>
            </a:r>
            <a:endParaRPr lang="en-US" sz="1800" dirty="0"/>
          </a:p>
        </p:txBody>
      </p:sp>
      <p:sp>
        <p:nvSpPr>
          <p:cNvPr id="25" name="PRODUCTS head ID"/>
          <p:cNvSpPr/>
          <p:nvPr/>
        </p:nvSpPr>
        <p:spPr>
          <a:xfrm>
            <a:off x="1097280" y="4544568"/>
            <a:ext cx="921715" cy="457200"/>
          </a:xfrm>
          <a:prstGeom prst="rect">
            <a:avLst/>
          </a:prstGeom>
          <a:solidFill>
            <a:schemeClr val="accent1"/>
          </a:solidFill>
          <a:ln w="12700">
            <a:solidFill>
              <a:schemeClr val="bg1"/>
            </a:solidFill>
            <a:prstDash val="solid"/>
          </a:ln>
        </p:spPr>
        <p:txBody>
          <a:bodyPr/>
          <a:lstStyle/>
          <a:p>
            <a:endParaRPr lang="en-IN"/>
          </a:p>
        </p:txBody>
      </p:sp>
      <p:sp>
        <p:nvSpPr>
          <p:cNvPr id="26" name="PRODUCTS head text ID"/>
          <p:cNvSpPr txBox="1"/>
          <p:nvPr/>
        </p:nvSpPr>
        <p:spPr>
          <a:xfrm>
            <a:off x="1097280" y="4544568"/>
            <a:ext cx="921715" cy="457200"/>
          </a:xfrm>
          <a:prstGeom prst="rect">
            <a:avLst/>
          </a:prstGeom>
          <a:noFill/>
          <a:ln/>
        </p:spPr>
        <p:txBody>
          <a:bodyPr wrap="square" lIns="0" tIns="0" rIns="0" bIns="0" rtlCol="0" anchor="ctr"/>
          <a:lstStyle/>
          <a:p>
            <a:pPr marL="0" indent="0" algn="ctr">
              <a:buNone/>
            </a:pPr>
            <a:r>
              <a:rPr lang="en-US" sz="1400" b="1" dirty="0">
                <a:solidFill>
                  <a:schemeClr val="bg1"/>
                </a:solidFill>
              </a:rPr>
              <a:t>ID</a:t>
            </a:r>
            <a:endParaRPr lang="en-US" sz="1400" dirty="0"/>
          </a:p>
        </p:txBody>
      </p:sp>
      <p:sp>
        <p:nvSpPr>
          <p:cNvPr id="27" name="PRODUCTS cell ID0"/>
          <p:cNvSpPr/>
          <p:nvPr/>
        </p:nvSpPr>
        <p:spPr>
          <a:xfrm>
            <a:off x="1097280" y="5001768"/>
            <a:ext cx="921715" cy="365760"/>
          </a:xfrm>
          <a:prstGeom prst="rect">
            <a:avLst/>
          </a:prstGeom>
          <a:solidFill>
            <a:schemeClr val="bg1"/>
          </a:solidFill>
          <a:ln w="12700">
            <a:solidFill>
              <a:schemeClr val="accent4"/>
            </a:solidFill>
            <a:prstDash val="solid"/>
          </a:ln>
        </p:spPr>
        <p:txBody>
          <a:bodyPr/>
          <a:lstStyle/>
          <a:p>
            <a:endParaRPr lang="en-IN"/>
          </a:p>
        </p:txBody>
      </p:sp>
      <p:sp>
        <p:nvSpPr>
          <p:cNvPr id="28" name="PRODUCTS cell ID1"/>
          <p:cNvSpPr/>
          <p:nvPr/>
        </p:nvSpPr>
        <p:spPr>
          <a:xfrm>
            <a:off x="1097280" y="5367528"/>
            <a:ext cx="921715" cy="365760"/>
          </a:xfrm>
          <a:prstGeom prst="rect">
            <a:avLst/>
          </a:prstGeom>
          <a:solidFill>
            <a:schemeClr val="bg1"/>
          </a:solidFill>
          <a:ln w="12700">
            <a:solidFill>
              <a:schemeClr val="accent4"/>
            </a:solidFill>
            <a:prstDash val="solid"/>
          </a:ln>
        </p:spPr>
        <p:txBody>
          <a:bodyPr/>
          <a:lstStyle/>
          <a:p>
            <a:endParaRPr lang="en-IN"/>
          </a:p>
        </p:txBody>
      </p:sp>
      <p:sp>
        <p:nvSpPr>
          <p:cNvPr id="29" name="PRODUCTS head Name"/>
          <p:cNvSpPr/>
          <p:nvPr/>
        </p:nvSpPr>
        <p:spPr>
          <a:xfrm>
            <a:off x="2018995" y="4544568"/>
            <a:ext cx="921715" cy="457200"/>
          </a:xfrm>
          <a:prstGeom prst="rect">
            <a:avLst/>
          </a:prstGeom>
          <a:solidFill>
            <a:schemeClr val="accent1"/>
          </a:solidFill>
          <a:ln w="12700">
            <a:solidFill>
              <a:schemeClr val="bg1"/>
            </a:solidFill>
            <a:prstDash val="solid"/>
          </a:ln>
        </p:spPr>
        <p:txBody>
          <a:bodyPr/>
          <a:lstStyle/>
          <a:p>
            <a:endParaRPr lang="en-IN"/>
          </a:p>
        </p:txBody>
      </p:sp>
      <p:sp>
        <p:nvSpPr>
          <p:cNvPr id="30" name="PRODUCTS head text Name"/>
          <p:cNvSpPr txBox="1"/>
          <p:nvPr/>
        </p:nvSpPr>
        <p:spPr>
          <a:xfrm>
            <a:off x="2018995" y="4544568"/>
            <a:ext cx="921715" cy="457200"/>
          </a:xfrm>
          <a:prstGeom prst="rect">
            <a:avLst/>
          </a:prstGeom>
          <a:noFill/>
          <a:ln/>
        </p:spPr>
        <p:txBody>
          <a:bodyPr wrap="square" lIns="0" tIns="0" rIns="0" bIns="0" rtlCol="0" anchor="ctr"/>
          <a:lstStyle/>
          <a:p>
            <a:pPr marL="0" indent="0" algn="ctr">
              <a:buNone/>
            </a:pPr>
            <a:r>
              <a:rPr lang="en-US" sz="1400" b="1" dirty="0">
                <a:solidFill>
                  <a:schemeClr val="bg1"/>
                </a:solidFill>
              </a:rPr>
              <a:t>Name</a:t>
            </a:r>
            <a:endParaRPr lang="en-US" sz="1400" dirty="0"/>
          </a:p>
        </p:txBody>
      </p:sp>
      <p:sp>
        <p:nvSpPr>
          <p:cNvPr id="31" name="PRODUCTS cell Name0"/>
          <p:cNvSpPr/>
          <p:nvPr/>
        </p:nvSpPr>
        <p:spPr>
          <a:xfrm>
            <a:off x="2018995" y="5001768"/>
            <a:ext cx="921715" cy="365760"/>
          </a:xfrm>
          <a:prstGeom prst="rect">
            <a:avLst/>
          </a:prstGeom>
          <a:solidFill>
            <a:schemeClr val="bg1"/>
          </a:solidFill>
          <a:ln w="12700">
            <a:solidFill>
              <a:schemeClr val="accent4"/>
            </a:solidFill>
            <a:prstDash val="solid"/>
          </a:ln>
        </p:spPr>
        <p:txBody>
          <a:bodyPr/>
          <a:lstStyle/>
          <a:p>
            <a:endParaRPr lang="en-IN"/>
          </a:p>
        </p:txBody>
      </p:sp>
      <p:sp>
        <p:nvSpPr>
          <p:cNvPr id="32" name="PRODUCTS cell Name1"/>
          <p:cNvSpPr/>
          <p:nvPr/>
        </p:nvSpPr>
        <p:spPr>
          <a:xfrm>
            <a:off x="2018995" y="5367528"/>
            <a:ext cx="921715" cy="365760"/>
          </a:xfrm>
          <a:prstGeom prst="rect">
            <a:avLst/>
          </a:prstGeom>
          <a:solidFill>
            <a:schemeClr val="bg1"/>
          </a:solidFill>
          <a:ln w="12700">
            <a:solidFill>
              <a:schemeClr val="accent4"/>
            </a:solidFill>
            <a:prstDash val="solid"/>
          </a:ln>
        </p:spPr>
        <p:txBody>
          <a:bodyPr/>
          <a:lstStyle/>
          <a:p>
            <a:endParaRPr lang="en-IN"/>
          </a:p>
        </p:txBody>
      </p:sp>
      <p:sp>
        <p:nvSpPr>
          <p:cNvPr id="33" name="PRODUCTS head Category"/>
          <p:cNvSpPr/>
          <p:nvPr/>
        </p:nvSpPr>
        <p:spPr>
          <a:xfrm>
            <a:off x="2940710" y="4544568"/>
            <a:ext cx="921715" cy="457200"/>
          </a:xfrm>
          <a:prstGeom prst="rect">
            <a:avLst/>
          </a:prstGeom>
          <a:solidFill>
            <a:schemeClr val="accent1"/>
          </a:solidFill>
          <a:ln w="12700">
            <a:solidFill>
              <a:schemeClr val="bg1"/>
            </a:solidFill>
            <a:prstDash val="solid"/>
          </a:ln>
        </p:spPr>
        <p:txBody>
          <a:bodyPr/>
          <a:lstStyle/>
          <a:p>
            <a:endParaRPr lang="en-IN"/>
          </a:p>
        </p:txBody>
      </p:sp>
      <p:sp>
        <p:nvSpPr>
          <p:cNvPr id="34" name="PRODUCTS head text Category"/>
          <p:cNvSpPr txBox="1"/>
          <p:nvPr/>
        </p:nvSpPr>
        <p:spPr>
          <a:xfrm>
            <a:off x="2940710" y="4544568"/>
            <a:ext cx="921715" cy="457200"/>
          </a:xfrm>
          <a:prstGeom prst="rect">
            <a:avLst/>
          </a:prstGeom>
          <a:noFill/>
          <a:ln/>
        </p:spPr>
        <p:txBody>
          <a:bodyPr wrap="square" lIns="0" tIns="0" rIns="0" bIns="0" rtlCol="0" anchor="ctr"/>
          <a:lstStyle/>
          <a:p>
            <a:pPr marL="0" indent="0" algn="ctr">
              <a:buNone/>
            </a:pPr>
            <a:r>
              <a:rPr lang="en-US" sz="1400" b="1" dirty="0">
                <a:solidFill>
                  <a:schemeClr val="bg1"/>
                </a:solidFill>
              </a:rPr>
              <a:t>Category</a:t>
            </a:r>
            <a:endParaRPr lang="en-US" sz="1400" dirty="0"/>
          </a:p>
        </p:txBody>
      </p:sp>
      <p:sp>
        <p:nvSpPr>
          <p:cNvPr id="35" name="PRODUCTS cell Category0"/>
          <p:cNvSpPr/>
          <p:nvPr/>
        </p:nvSpPr>
        <p:spPr>
          <a:xfrm>
            <a:off x="2940710" y="5001768"/>
            <a:ext cx="921715" cy="365760"/>
          </a:xfrm>
          <a:prstGeom prst="rect">
            <a:avLst/>
          </a:prstGeom>
          <a:solidFill>
            <a:schemeClr val="bg1"/>
          </a:solidFill>
          <a:ln w="12700">
            <a:solidFill>
              <a:schemeClr val="accent4"/>
            </a:solidFill>
            <a:prstDash val="solid"/>
          </a:ln>
        </p:spPr>
        <p:txBody>
          <a:bodyPr/>
          <a:lstStyle/>
          <a:p>
            <a:endParaRPr lang="en-IN"/>
          </a:p>
        </p:txBody>
      </p:sp>
      <p:sp>
        <p:nvSpPr>
          <p:cNvPr id="36" name="PRODUCTS cell Category1"/>
          <p:cNvSpPr/>
          <p:nvPr/>
        </p:nvSpPr>
        <p:spPr>
          <a:xfrm>
            <a:off x="2940710" y="5367528"/>
            <a:ext cx="921715" cy="365760"/>
          </a:xfrm>
          <a:prstGeom prst="rect">
            <a:avLst/>
          </a:prstGeom>
          <a:solidFill>
            <a:schemeClr val="bg1"/>
          </a:solidFill>
          <a:ln w="12700">
            <a:solidFill>
              <a:schemeClr val="accent4"/>
            </a:solidFill>
            <a:prstDash val="solid"/>
          </a:ln>
        </p:spPr>
        <p:txBody>
          <a:bodyPr/>
          <a:lstStyle/>
          <a:p>
            <a:endParaRPr lang="en-IN"/>
          </a:p>
        </p:txBody>
      </p:sp>
      <p:sp>
        <p:nvSpPr>
          <p:cNvPr id="37" name="PRODUCTS head Price"/>
          <p:cNvSpPr/>
          <p:nvPr/>
        </p:nvSpPr>
        <p:spPr>
          <a:xfrm>
            <a:off x="3862426" y="4544568"/>
            <a:ext cx="921715" cy="457200"/>
          </a:xfrm>
          <a:prstGeom prst="rect">
            <a:avLst/>
          </a:prstGeom>
          <a:solidFill>
            <a:schemeClr val="accent1"/>
          </a:solidFill>
          <a:ln w="12700">
            <a:solidFill>
              <a:schemeClr val="bg1"/>
            </a:solidFill>
            <a:prstDash val="solid"/>
          </a:ln>
        </p:spPr>
        <p:txBody>
          <a:bodyPr/>
          <a:lstStyle/>
          <a:p>
            <a:endParaRPr lang="en-IN"/>
          </a:p>
        </p:txBody>
      </p:sp>
      <p:sp>
        <p:nvSpPr>
          <p:cNvPr id="38" name="PRODUCTS head text Price"/>
          <p:cNvSpPr txBox="1"/>
          <p:nvPr/>
        </p:nvSpPr>
        <p:spPr>
          <a:xfrm>
            <a:off x="3862426" y="4544568"/>
            <a:ext cx="921715" cy="457200"/>
          </a:xfrm>
          <a:prstGeom prst="rect">
            <a:avLst/>
          </a:prstGeom>
          <a:noFill/>
          <a:ln/>
        </p:spPr>
        <p:txBody>
          <a:bodyPr wrap="square" lIns="0" tIns="0" rIns="0" bIns="0" rtlCol="0" anchor="ctr"/>
          <a:lstStyle/>
          <a:p>
            <a:pPr marL="0" indent="0" algn="ctr">
              <a:buNone/>
            </a:pPr>
            <a:r>
              <a:rPr lang="en-US" sz="1400" b="1" dirty="0">
                <a:solidFill>
                  <a:schemeClr val="bg1"/>
                </a:solidFill>
              </a:rPr>
              <a:t>Price</a:t>
            </a:r>
            <a:endParaRPr lang="en-US" sz="1400" dirty="0"/>
          </a:p>
        </p:txBody>
      </p:sp>
      <p:sp>
        <p:nvSpPr>
          <p:cNvPr id="39" name="PRODUCTS cell Price0"/>
          <p:cNvSpPr/>
          <p:nvPr/>
        </p:nvSpPr>
        <p:spPr>
          <a:xfrm>
            <a:off x="3862426" y="5001768"/>
            <a:ext cx="921715" cy="365760"/>
          </a:xfrm>
          <a:prstGeom prst="rect">
            <a:avLst/>
          </a:prstGeom>
          <a:solidFill>
            <a:schemeClr val="bg1"/>
          </a:solidFill>
          <a:ln w="12700">
            <a:solidFill>
              <a:schemeClr val="accent4"/>
            </a:solidFill>
            <a:prstDash val="solid"/>
          </a:ln>
        </p:spPr>
        <p:txBody>
          <a:bodyPr/>
          <a:lstStyle/>
          <a:p>
            <a:endParaRPr lang="en-IN"/>
          </a:p>
        </p:txBody>
      </p:sp>
      <p:sp>
        <p:nvSpPr>
          <p:cNvPr id="40" name="PRODUCTS cell Price1"/>
          <p:cNvSpPr/>
          <p:nvPr/>
        </p:nvSpPr>
        <p:spPr>
          <a:xfrm>
            <a:off x="3862426" y="5367528"/>
            <a:ext cx="921715" cy="365760"/>
          </a:xfrm>
          <a:prstGeom prst="rect">
            <a:avLst/>
          </a:prstGeom>
          <a:solidFill>
            <a:schemeClr val="bg1"/>
          </a:solidFill>
          <a:ln w="12700">
            <a:solidFill>
              <a:schemeClr val="accent4"/>
            </a:solidFill>
            <a:prstDash val="solid"/>
          </a:ln>
        </p:spPr>
        <p:txBody>
          <a:bodyPr/>
          <a:lstStyle/>
          <a:p>
            <a:endParaRPr lang="en-IN"/>
          </a:p>
        </p:txBody>
      </p:sp>
      <p:sp>
        <p:nvSpPr>
          <p:cNvPr id="41" name="PRODUCTS head Stock"/>
          <p:cNvSpPr/>
          <p:nvPr/>
        </p:nvSpPr>
        <p:spPr>
          <a:xfrm>
            <a:off x="4784141" y="4544568"/>
            <a:ext cx="921715" cy="457200"/>
          </a:xfrm>
          <a:prstGeom prst="rect">
            <a:avLst/>
          </a:prstGeom>
          <a:solidFill>
            <a:schemeClr val="accent1"/>
          </a:solidFill>
          <a:ln w="12700">
            <a:solidFill>
              <a:schemeClr val="bg1"/>
            </a:solidFill>
            <a:prstDash val="solid"/>
          </a:ln>
        </p:spPr>
        <p:txBody>
          <a:bodyPr/>
          <a:lstStyle/>
          <a:p>
            <a:endParaRPr lang="en-IN"/>
          </a:p>
        </p:txBody>
      </p:sp>
      <p:sp>
        <p:nvSpPr>
          <p:cNvPr id="42" name="PRODUCTS head text Stock"/>
          <p:cNvSpPr txBox="1"/>
          <p:nvPr/>
        </p:nvSpPr>
        <p:spPr>
          <a:xfrm>
            <a:off x="4784141" y="4544568"/>
            <a:ext cx="921715" cy="457200"/>
          </a:xfrm>
          <a:prstGeom prst="rect">
            <a:avLst/>
          </a:prstGeom>
          <a:noFill/>
          <a:ln/>
        </p:spPr>
        <p:txBody>
          <a:bodyPr wrap="square" lIns="0" tIns="0" rIns="0" bIns="0" rtlCol="0" anchor="ctr"/>
          <a:lstStyle/>
          <a:p>
            <a:pPr marL="0" indent="0" algn="ctr">
              <a:buNone/>
            </a:pPr>
            <a:r>
              <a:rPr lang="en-US" sz="1400" b="1" dirty="0">
                <a:solidFill>
                  <a:schemeClr val="bg1"/>
                </a:solidFill>
              </a:rPr>
              <a:t>Stock</a:t>
            </a:r>
            <a:endParaRPr lang="en-US" sz="1400" dirty="0"/>
          </a:p>
        </p:txBody>
      </p:sp>
      <p:sp>
        <p:nvSpPr>
          <p:cNvPr id="43" name="PRODUCTS cell Stock0"/>
          <p:cNvSpPr/>
          <p:nvPr/>
        </p:nvSpPr>
        <p:spPr>
          <a:xfrm>
            <a:off x="4784141" y="5001768"/>
            <a:ext cx="921715" cy="365760"/>
          </a:xfrm>
          <a:prstGeom prst="rect">
            <a:avLst/>
          </a:prstGeom>
          <a:solidFill>
            <a:schemeClr val="bg1"/>
          </a:solidFill>
          <a:ln w="12700">
            <a:solidFill>
              <a:schemeClr val="accent4"/>
            </a:solidFill>
            <a:prstDash val="solid"/>
          </a:ln>
        </p:spPr>
        <p:txBody>
          <a:bodyPr/>
          <a:lstStyle/>
          <a:p>
            <a:endParaRPr lang="en-IN"/>
          </a:p>
        </p:txBody>
      </p:sp>
      <p:sp>
        <p:nvSpPr>
          <p:cNvPr id="44" name="PRODUCTS cell Stock1"/>
          <p:cNvSpPr/>
          <p:nvPr/>
        </p:nvSpPr>
        <p:spPr>
          <a:xfrm>
            <a:off x="4784141" y="5367528"/>
            <a:ext cx="921715" cy="365760"/>
          </a:xfrm>
          <a:prstGeom prst="rect">
            <a:avLst/>
          </a:prstGeom>
          <a:solidFill>
            <a:schemeClr val="bg1"/>
          </a:solidFill>
          <a:ln w="12700">
            <a:solidFill>
              <a:schemeClr val="accent4"/>
            </a:solidFill>
            <a:prstDash val="solid"/>
          </a:ln>
        </p:spPr>
        <p:txBody>
          <a:bodyPr/>
          <a:lstStyle/>
          <a:p>
            <a:endParaRPr lang="en-IN"/>
          </a:p>
        </p:txBody>
      </p:sp>
      <p:sp>
        <p:nvSpPr>
          <p:cNvPr id="45" name="SALES card"/>
          <p:cNvSpPr/>
          <p:nvPr/>
        </p:nvSpPr>
        <p:spPr>
          <a:xfrm>
            <a:off x="6208776" y="3977640"/>
            <a:ext cx="5157216" cy="2148840"/>
          </a:xfrm>
          <a:prstGeom prst="roundRect">
            <a:avLst>
              <a:gd name="adj" fmla="val 5106"/>
            </a:avLst>
          </a:prstGeom>
          <a:solidFill>
            <a:schemeClr val="bg2"/>
          </a:solidFill>
          <a:ln/>
        </p:spPr>
        <p:txBody>
          <a:bodyPr/>
          <a:lstStyle/>
          <a:p>
            <a:endParaRPr lang="en-IN"/>
          </a:p>
        </p:txBody>
      </p:sp>
      <p:sp>
        <p:nvSpPr>
          <p:cNvPr id="46" name="SALES label"/>
          <p:cNvSpPr txBox="1"/>
          <p:nvPr/>
        </p:nvSpPr>
        <p:spPr>
          <a:xfrm>
            <a:off x="6483096" y="4087368"/>
            <a:ext cx="4608576" cy="365760"/>
          </a:xfrm>
          <a:prstGeom prst="rect">
            <a:avLst/>
          </a:prstGeom>
          <a:noFill/>
          <a:ln/>
        </p:spPr>
        <p:txBody>
          <a:bodyPr wrap="square" lIns="0" tIns="0" rIns="0" bIns="0" rtlCol="0" anchor="ctr"/>
          <a:lstStyle/>
          <a:p>
            <a:pPr marL="0" indent="0" algn="l">
              <a:buNone/>
            </a:pPr>
            <a:r>
              <a:rPr lang="en-US" sz="1800" b="1" dirty="0">
                <a:solidFill>
                  <a:schemeClr val="accent1"/>
                </a:solidFill>
              </a:rPr>
              <a:t>SALES table</a:t>
            </a:r>
            <a:endParaRPr lang="en-US" sz="1800" dirty="0"/>
          </a:p>
        </p:txBody>
      </p:sp>
      <p:sp>
        <p:nvSpPr>
          <p:cNvPr id="47" name="SALES head Product"/>
          <p:cNvSpPr/>
          <p:nvPr/>
        </p:nvSpPr>
        <p:spPr>
          <a:xfrm>
            <a:off x="6483096" y="4544568"/>
            <a:ext cx="1152144" cy="457200"/>
          </a:xfrm>
          <a:prstGeom prst="rect">
            <a:avLst/>
          </a:prstGeom>
          <a:solidFill>
            <a:schemeClr val="accent1"/>
          </a:solidFill>
          <a:ln w="12700">
            <a:solidFill>
              <a:schemeClr val="bg1"/>
            </a:solidFill>
            <a:prstDash val="solid"/>
          </a:ln>
        </p:spPr>
        <p:txBody>
          <a:bodyPr/>
          <a:lstStyle/>
          <a:p>
            <a:endParaRPr lang="en-IN"/>
          </a:p>
        </p:txBody>
      </p:sp>
      <p:sp>
        <p:nvSpPr>
          <p:cNvPr id="48" name="SALES head text Product"/>
          <p:cNvSpPr txBox="1"/>
          <p:nvPr/>
        </p:nvSpPr>
        <p:spPr>
          <a:xfrm>
            <a:off x="6483096" y="4544568"/>
            <a:ext cx="1152144" cy="457200"/>
          </a:xfrm>
          <a:prstGeom prst="rect">
            <a:avLst/>
          </a:prstGeom>
          <a:noFill/>
          <a:ln/>
        </p:spPr>
        <p:txBody>
          <a:bodyPr wrap="square" lIns="0" tIns="0" rIns="0" bIns="0" rtlCol="0" anchor="ctr"/>
          <a:lstStyle/>
          <a:p>
            <a:pPr marL="0" indent="0" algn="ctr">
              <a:buNone/>
            </a:pPr>
            <a:r>
              <a:rPr lang="en-US" sz="1400" b="1" dirty="0">
                <a:solidFill>
                  <a:schemeClr val="bg1"/>
                </a:solidFill>
              </a:rPr>
              <a:t>Product</a:t>
            </a:r>
            <a:endParaRPr lang="en-US" sz="1400" dirty="0"/>
          </a:p>
        </p:txBody>
      </p:sp>
      <p:sp>
        <p:nvSpPr>
          <p:cNvPr id="49" name="SALES cell Product0"/>
          <p:cNvSpPr/>
          <p:nvPr/>
        </p:nvSpPr>
        <p:spPr>
          <a:xfrm>
            <a:off x="6483096" y="5001768"/>
            <a:ext cx="1152144" cy="365760"/>
          </a:xfrm>
          <a:prstGeom prst="rect">
            <a:avLst/>
          </a:prstGeom>
          <a:solidFill>
            <a:schemeClr val="bg1"/>
          </a:solidFill>
          <a:ln w="12700">
            <a:solidFill>
              <a:schemeClr val="accent4"/>
            </a:solidFill>
            <a:prstDash val="solid"/>
          </a:ln>
        </p:spPr>
        <p:txBody>
          <a:bodyPr/>
          <a:lstStyle/>
          <a:p>
            <a:endParaRPr lang="en-IN"/>
          </a:p>
        </p:txBody>
      </p:sp>
      <p:sp>
        <p:nvSpPr>
          <p:cNvPr id="50" name="SALES cell Product1"/>
          <p:cNvSpPr/>
          <p:nvPr/>
        </p:nvSpPr>
        <p:spPr>
          <a:xfrm>
            <a:off x="6483096" y="5367528"/>
            <a:ext cx="1152144" cy="365760"/>
          </a:xfrm>
          <a:prstGeom prst="rect">
            <a:avLst/>
          </a:prstGeom>
          <a:solidFill>
            <a:schemeClr val="bg1"/>
          </a:solidFill>
          <a:ln w="12700">
            <a:solidFill>
              <a:schemeClr val="accent4"/>
            </a:solidFill>
            <a:prstDash val="solid"/>
          </a:ln>
        </p:spPr>
        <p:txBody>
          <a:bodyPr/>
          <a:lstStyle/>
          <a:p>
            <a:endParaRPr lang="en-IN"/>
          </a:p>
        </p:txBody>
      </p:sp>
      <p:sp>
        <p:nvSpPr>
          <p:cNvPr id="51" name="SALES head Category"/>
          <p:cNvSpPr/>
          <p:nvPr/>
        </p:nvSpPr>
        <p:spPr>
          <a:xfrm>
            <a:off x="7635240" y="4544568"/>
            <a:ext cx="1152144" cy="457200"/>
          </a:xfrm>
          <a:prstGeom prst="rect">
            <a:avLst/>
          </a:prstGeom>
          <a:solidFill>
            <a:schemeClr val="accent1"/>
          </a:solidFill>
          <a:ln w="12700">
            <a:solidFill>
              <a:schemeClr val="bg1"/>
            </a:solidFill>
            <a:prstDash val="solid"/>
          </a:ln>
        </p:spPr>
        <p:txBody>
          <a:bodyPr/>
          <a:lstStyle/>
          <a:p>
            <a:endParaRPr lang="en-IN"/>
          </a:p>
        </p:txBody>
      </p:sp>
      <p:sp>
        <p:nvSpPr>
          <p:cNvPr id="52" name="SALES head text Category"/>
          <p:cNvSpPr txBox="1"/>
          <p:nvPr/>
        </p:nvSpPr>
        <p:spPr>
          <a:xfrm>
            <a:off x="7635240" y="4544568"/>
            <a:ext cx="1152144" cy="457200"/>
          </a:xfrm>
          <a:prstGeom prst="rect">
            <a:avLst/>
          </a:prstGeom>
          <a:noFill/>
          <a:ln/>
        </p:spPr>
        <p:txBody>
          <a:bodyPr wrap="square" lIns="0" tIns="0" rIns="0" bIns="0" rtlCol="0" anchor="ctr"/>
          <a:lstStyle/>
          <a:p>
            <a:pPr marL="0" indent="0" algn="ctr">
              <a:buNone/>
            </a:pPr>
            <a:r>
              <a:rPr lang="en-US" sz="1400" b="1" dirty="0">
                <a:solidFill>
                  <a:schemeClr val="bg1"/>
                </a:solidFill>
              </a:rPr>
              <a:t>Category</a:t>
            </a:r>
            <a:endParaRPr lang="en-US" sz="1400" dirty="0"/>
          </a:p>
        </p:txBody>
      </p:sp>
      <p:sp>
        <p:nvSpPr>
          <p:cNvPr id="53" name="SALES cell Category0"/>
          <p:cNvSpPr/>
          <p:nvPr/>
        </p:nvSpPr>
        <p:spPr>
          <a:xfrm>
            <a:off x="7635240" y="5001768"/>
            <a:ext cx="1152144" cy="365760"/>
          </a:xfrm>
          <a:prstGeom prst="rect">
            <a:avLst/>
          </a:prstGeom>
          <a:solidFill>
            <a:schemeClr val="bg1"/>
          </a:solidFill>
          <a:ln w="12700">
            <a:solidFill>
              <a:schemeClr val="accent4"/>
            </a:solidFill>
            <a:prstDash val="solid"/>
          </a:ln>
        </p:spPr>
        <p:txBody>
          <a:bodyPr/>
          <a:lstStyle/>
          <a:p>
            <a:endParaRPr lang="en-IN"/>
          </a:p>
        </p:txBody>
      </p:sp>
      <p:sp>
        <p:nvSpPr>
          <p:cNvPr id="54" name="SALES cell Category1"/>
          <p:cNvSpPr/>
          <p:nvPr/>
        </p:nvSpPr>
        <p:spPr>
          <a:xfrm>
            <a:off x="7635240" y="5367528"/>
            <a:ext cx="1152144" cy="365760"/>
          </a:xfrm>
          <a:prstGeom prst="rect">
            <a:avLst/>
          </a:prstGeom>
          <a:solidFill>
            <a:schemeClr val="bg1"/>
          </a:solidFill>
          <a:ln w="12700">
            <a:solidFill>
              <a:schemeClr val="accent4"/>
            </a:solidFill>
            <a:prstDash val="solid"/>
          </a:ln>
        </p:spPr>
        <p:txBody>
          <a:bodyPr/>
          <a:lstStyle/>
          <a:p>
            <a:endParaRPr lang="en-IN"/>
          </a:p>
        </p:txBody>
      </p:sp>
      <p:sp>
        <p:nvSpPr>
          <p:cNvPr id="55" name="SALES head Quantity"/>
          <p:cNvSpPr/>
          <p:nvPr/>
        </p:nvSpPr>
        <p:spPr>
          <a:xfrm>
            <a:off x="8787384" y="4544568"/>
            <a:ext cx="1152144" cy="457200"/>
          </a:xfrm>
          <a:prstGeom prst="rect">
            <a:avLst/>
          </a:prstGeom>
          <a:solidFill>
            <a:schemeClr val="accent1"/>
          </a:solidFill>
          <a:ln w="12700">
            <a:solidFill>
              <a:schemeClr val="bg1"/>
            </a:solidFill>
            <a:prstDash val="solid"/>
          </a:ln>
        </p:spPr>
        <p:txBody>
          <a:bodyPr/>
          <a:lstStyle/>
          <a:p>
            <a:endParaRPr lang="en-IN"/>
          </a:p>
        </p:txBody>
      </p:sp>
      <p:sp>
        <p:nvSpPr>
          <p:cNvPr id="56" name="SALES head text Quantity"/>
          <p:cNvSpPr txBox="1"/>
          <p:nvPr/>
        </p:nvSpPr>
        <p:spPr>
          <a:xfrm>
            <a:off x="8787384" y="4544568"/>
            <a:ext cx="1152144" cy="457200"/>
          </a:xfrm>
          <a:prstGeom prst="rect">
            <a:avLst/>
          </a:prstGeom>
          <a:noFill/>
          <a:ln/>
        </p:spPr>
        <p:txBody>
          <a:bodyPr wrap="square" lIns="0" tIns="0" rIns="0" bIns="0" rtlCol="0" anchor="ctr"/>
          <a:lstStyle/>
          <a:p>
            <a:pPr marL="0" indent="0" algn="ctr">
              <a:buNone/>
            </a:pPr>
            <a:r>
              <a:rPr lang="en-US" sz="1400" b="1" dirty="0">
                <a:solidFill>
                  <a:schemeClr val="bg1"/>
                </a:solidFill>
              </a:rPr>
              <a:t>Quantity</a:t>
            </a:r>
            <a:endParaRPr lang="en-US" sz="1400" dirty="0"/>
          </a:p>
        </p:txBody>
      </p:sp>
      <p:sp>
        <p:nvSpPr>
          <p:cNvPr id="57" name="SALES cell Quantity0"/>
          <p:cNvSpPr/>
          <p:nvPr/>
        </p:nvSpPr>
        <p:spPr>
          <a:xfrm>
            <a:off x="8787384" y="5001768"/>
            <a:ext cx="1152144" cy="365760"/>
          </a:xfrm>
          <a:prstGeom prst="rect">
            <a:avLst/>
          </a:prstGeom>
          <a:solidFill>
            <a:schemeClr val="bg1"/>
          </a:solidFill>
          <a:ln w="12700">
            <a:solidFill>
              <a:schemeClr val="accent4"/>
            </a:solidFill>
            <a:prstDash val="solid"/>
          </a:ln>
        </p:spPr>
        <p:txBody>
          <a:bodyPr/>
          <a:lstStyle/>
          <a:p>
            <a:endParaRPr lang="en-IN"/>
          </a:p>
        </p:txBody>
      </p:sp>
      <p:sp>
        <p:nvSpPr>
          <p:cNvPr id="58" name="SALES cell Quantity1"/>
          <p:cNvSpPr/>
          <p:nvPr/>
        </p:nvSpPr>
        <p:spPr>
          <a:xfrm>
            <a:off x="8787384" y="5367528"/>
            <a:ext cx="1152144" cy="365760"/>
          </a:xfrm>
          <a:prstGeom prst="rect">
            <a:avLst/>
          </a:prstGeom>
          <a:solidFill>
            <a:schemeClr val="bg1"/>
          </a:solidFill>
          <a:ln w="12700">
            <a:solidFill>
              <a:schemeClr val="accent4"/>
            </a:solidFill>
            <a:prstDash val="solid"/>
          </a:ln>
        </p:spPr>
        <p:txBody>
          <a:bodyPr/>
          <a:lstStyle/>
          <a:p>
            <a:endParaRPr lang="en-IN"/>
          </a:p>
        </p:txBody>
      </p:sp>
      <p:sp>
        <p:nvSpPr>
          <p:cNvPr id="59" name="SALES head Total"/>
          <p:cNvSpPr/>
          <p:nvPr/>
        </p:nvSpPr>
        <p:spPr>
          <a:xfrm>
            <a:off x="9939528" y="4544568"/>
            <a:ext cx="1152144" cy="457200"/>
          </a:xfrm>
          <a:prstGeom prst="rect">
            <a:avLst/>
          </a:prstGeom>
          <a:solidFill>
            <a:schemeClr val="accent1"/>
          </a:solidFill>
          <a:ln w="12700">
            <a:solidFill>
              <a:schemeClr val="bg1"/>
            </a:solidFill>
            <a:prstDash val="solid"/>
          </a:ln>
        </p:spPr>
        <p:txBody>
          <a:bodyPr/>
          <a:lstStyle/>
          <a:p>
            <a:endParaRPr lang="en-IN"/>
          </a:p>
        </p:txBody>
      </p:sp>
      <p:sp>
        <p:nvSpPr>
          <p:cNvPr id="60" name="SALES head text Total"/>
          <p:cNvSpPr txBox="1"/>
          <p:nvPr/>
        </p:nvSpPr>
        <p:spPr>
          <a:xfrm>
            <a:off x="9939528" y="4544568"/>
            <a:ext cx="1152144" cy="457200"/>
          </a:xfrm>
          <a:prstGeom prst="rect">
            <a:avLst/>
          </a:prstGeom>
          <a:noFill/>
          <a:ln/>
        </p:spPr>
        <p:txBody>
          <a:bodyPr wrap="square" lIns="0" tIns="0" rIns="0" bIns="0" rtlCol="0" anchor="ctr"/>
          <a:lstStyle/>
          <a:p>
            <a:pPr marL="0" indent="0" algn="ctr">
              <a:buNone/>
            </a:pPr>
            <a:r>
              <a:rPr lang="en-US" sz="1400" b="1" dirty="0">
                <a:solidFill>
                  <a:schemeClr val="bg1"/>
                </a:solidFill>
              </a:rPr>
              <a:t>Total</a:t>
            </a:r>
            <a:endParaRPr lang="en-US" sz="1400" dirty="0"/>
          </a:p>
        </p:txBody>
      </p:sp>
      <p:sp>
        <p:nvSpPr>
          <p:cNvPr id="61" name="SALES cell Total0"/>
          <p:cNvSpPr/>
          <p:nvPr/>
        </p:nvSpPr>
        <p:spPr>
          <a:xfrm>
            <a:off x="9939528" y="5001768"/>
            <a:ext cx="1152144" cy="365760"/>
          </a:xfrm>
          <a:prstGeom prst="rect">
            <a:avLst/>
          </a:prstGeom>
          <a:solidFill>
            <a:schemeClr val="bg1"/>
          </a:solidFill>
          <a:ln w="12700">
            <a:solidFill>
              <a:schemeClr val="accent4"/>
            </a:solidFill>
            <a:prstDash val="solid"/>
          </a:ln>
        </p:spPr>
        <p:txBody>
          <a:bodyPr/>
          <a:lstStyle/>
          <a:p>
            <a:endParaRPr lang="en-IN"/>
          </a:p>
        </p:txBody>
      </p:sp>
      <p:sp>
        <p:nvSpPr>
          <p:cNvPr id="62" name="SALES cell Total1"/>
          <p:cNvSpPr/>
          <p:nvPr/>
        </p:nvSpPr>
        <p:spPr>
          <a:xfrm>
            <a:off x="9939528" y="5367528"/>
            <a:ext cx="1152144" cy="365760"/>
          </a:xfrm>
          <a:prstGeom prst="rect">
            <a:avLst/>
          </a:prstGeom>
          <a:solidFill>
            <a:schemeClr val="bg1"/>
          </a:solidFill>
          <a:ln w="12700">
            <a:solidFill>
              <a:schemeClr val="accent4"/>
            </a:solidFill>
            <a:prstDash val="solid"/>
          </a:ln>
        </p:spPr>
        <p:txBody>
          <a:bodyPr/>
          <a:lstStyle/>
          <a:p>
            <a:endParaRPr lang="en-IN"/>
          </a:p>
        </p:txBody>
      </p:sp>
      <p:sp>
        <p:nvSpPr>
          <p:cNvPr id="63"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GUI Output &amp; Results</a:t>
            </a:r>
            <a:endParaRPr lang="en-US" sz="3200" dirty="0"/>
          </a:p>
        </p:txBody>
      </p:sp>
      <p:sp>
        <p:nvSpPr>
          <p:cNvPr id="5" name="Screenshot hint"/>
          <p:cNvSpPr txBox="1"/>
          <p:nvPr/>
        </p:nvSpPr>
        <p:spPr>
          <a:xfrm>
            <a:off x="822960" y="3657600"/>
            <a:ext cx="6309360" cy="365760"/>
          </a:xfrm>
          <a:prstGeom prst="rect">
            <a:avLst/>
          </a:prstGeom>
          <a:noFill/>
          <a:ln/>
        </p:spPr>
        <p:txBody>
          <a:bodyPr wrap="square" lIns="0" tIns="0" rIns="0" bIns="0" rtlCol="0" anchor="ctr"/>
          <a:lstStyle/>
          <a:p>
            <a:pPr marL="0" indent="0" algn="ctr">
              <a:buNone/>
            </a:pPr>
            <a:endParaRPr lang="en-US" sz="1800" dirty="0"/>
          </a:p>
        </p:txBody>
      </p:sp>
      <p:sp>
        <p:nvSpPr>
          <p:cNvPr id="6" name="Screenshot caption"/>
          <p:cNvSpPr txBox="1"/>
          <p:nvPr/>
        </p:nvSpPr>
        <p:spPr>
          <a:xfrm>
            <a:off x="822960" y="5486400"/>
            <a:ext cx="6309360" cy="640080"/>
          </a:xfrm>
          <a:prstGeom prst="rect">
            <a:avLst/>
          </a:prstGeom>
          <a:noFill/>
          <a:ln/>
        </p:spPr>
        <p:txBody>
          <a:bodyPr wrap="square" lIns="0" tIns="0" rIns="0" bIns="0" rtlCol="0" anchor="t"/>
          <a:lstStyle/>
          <a:p>
            <a:pPr marL="0" indent="0" algn="l">
              <a:buNone/>
            </a:pPr>
            <a:r>
              <a:rPr lang="en-US" sz="1400" i="1" dirty="0">
                <a:solidFill>
                  <a:schemeClr val="accent3"/>
                </a:solidFill>
              </a:rPr>
              <a:t>The screenshot should show: product input fields, inventory table, Product ID and Quantity fields, Record Sale and Show Analytics buttons.</a:t>
            </a:r>
            <a:endParaRPr lang="en-US" sz="1400" dirty="0"/>
          </a:p>
        </p:txBody>
      </p:sp>
      <p:sp>
        <p:nvSpPr>
          <p:cNvPr id="7" name="Results card"/>
          <p:cNvSpPr/>
          <p:nvPr/>
        </p:nvSpPr>
        <p:spPr>
          <a:xfrm>
            <a:off x="7498080" y="1554480"/>
            <a:ext cx="3867912" cy="4572000"/>
          </a:xfrm>
          <a:prstGeom prst="roundRect">
            <a:avLst>
              <a:gd name="adj" fmla="val 2837"/>
            </a:avLst>
          </a:prstGeom>
          <a:solidFill>
            <a:schemeClr val="bg2"/>
          </a:solidFill>
          <a:ln/>
        </p:spPr>
        <p:txBody>
          <a:bodyPr/>
          <a:lstStyle/>
          <a:p>
            <a:endParaRPr lang="en-IN"/>
          </a:p>
        </p:txBody>
      </p:sp>
      <p:sp>
        <p:nvSpPr>
          <p:cNvPr id="8" name="Results title"/>
          <p:cNvSpPr txBox="1"/>
          <p:nvPr/>
        </p:nvSpPr>
        <p:spPr>
          <a:xfrm>
            <a:off x="7818120" y="1783080"/>
            <a:ext cx="3227832" cy="457200"/>
          </a:xfrm>
          <a:prstGeom prst="rect">
            <a:avLst/>
          </a:prstGeom>
          <a:noFill/>
          <a:ln/>
        </p:spPr>
        <p:txBody>
          <a:bodyPr wrap="square" lIns="0" tIns="0" rIns="0" bIns="0" rtlCol="0" anchor="ctr"/>
          <a:lstStyle/>
          <a:p>
            <a:pPr marL="0" indent="0" algn="l">
              <a:buNone/>
            </a:pPr>
            <a:r>
              <a:rPr lang="en-US" sz="2400" b="1" dirty="0">
                <a:solidFill>
                  <a:schemeClr val="tx1"/>
                </a:solidFill>
              </a:rPr>
              <a:t>Results</a:t>
            </a:r>
            <a:endParaRPr lang="en-US" sz="2400" dirty="0"/>
          </a:p>
        </p:txBody>
      </p:sp>
      <p:sp>
        <p:nvSpPr>
          <p:cNvPr id="9" name="Results list"/>
          <p:cNvSpPr txBox="1"/>
          <p:nvPr/>
        </p:nvSpPr>
        <p:spPr>
          <a:xfrm>
            <a:off x="7818120" y="2468880"/>
            <a:ext cx="3227832" cy="3474720"/>
          </a:xfrm>
          <a:prstGeom prst="rect">
            <a:avLst/>
          </a:prstGeom>
          <a:noFill/>
          <a:ln/>
        </p:spPr>
        <p:txBody>
          <a:bodyPr wrap="square" lIns="0" tIns="0" rIns="0" bIns="0" rtlCol="0" anchor="t"/>
          <a:lstStyle/>
          <a:p>
            <a:pPr marL="342900" indent="-342900" algn="l">
              <a:spcAft>
                <a:spcPts val="800"/>
              </a:spcAft>
              <a:buSzPct val="100000"/>
              <a:buChar char="•"/>
            </a:pPr>
            <a:r>
              <a:rPr lang="en-US" sz="1800" dirty="0">
                <a:solidFill>
                  <a:schemeClr val="tx1"/>
                </a:solidFill>
              </a:rPr>
              <a:t>Products stored successfully</a:t>
            </a:r>
            <a:endParaRPr lang="en-US" sz="1800" dirty="0"/>
          </a:p>
          <a:p>
            <a:pPr marL="342900" indent="-342900" algn="l">
              <a:spcAft>
                <a:spcPts val="800"/>
              </a:spcAft>
              <a:buSzPct val="100000"/>
              <a:buChar char="•"/>
            </a:pPr>
            <a:r>
              <a:rPr lang="en-US" sz="1800" dirty="0">
                <a:solidFill>
                  <a:schemeClr val="tx1"/>
                </a:solidFill>
              </a:rPr>
              <a:t>Inventory displayed through GUI</a:t>
            </a:r>
            <a:endParaRPr lang="en-US" sz="1800" dirty="0"/>
          </a:p>
          <a:p>
            <a:pPr marL="342900" indent="-342900" algn="l">
              <a:spcAft>
                <a:spcPts val="800"/>
              </a:spcAft>
              <a:buSzPct val="100000"/>
              <a:buChar char="•"/>
            </a:pPr>
            <a:r>
              <a:rPr lang="en-US" sz="1800" dirty="0">
                <a:solidFill>
                  <a:schemeClr val="tx1"/>
                </a:solidFill>
              </a:rPr>
              <a:t>Sales recorded successfully</a:t>
            </a:r>
            <a:endParaRPr lang="en-US" sz="1800" dirty="0"/>
          </a:p>
          <a:p>
            <a:pPr marL="342900" indent="-342900" algn="l">
              <a:spcAft>
                <a:spcPts val="800"/>
              </a:spcAft>
              <a:buSzPct val="100000"/>
              <a:buChar char="•"/>
            </a:pPr>
            <a:r>
              <a:rPr lang="en-US" sz="1800" dirty="0">
                <a:solidFill>
                  <a:schemeClr val="tx1"/>
                </a:solidFill>
              </a:rPr>
              <a:t>Stock reduced automatically</a:t>
            </a:r>
            <a:endParaRPr lang="en-US" sz="1800" dirty="0"/>
          </a:p>
          <a:p>
            <a:pPr marL="342900" indent="-342900" algn="l">
              <a:spcAft>
                <a:spcPts val="800"/>
              </a:spcAft>
              <a:buSzPct val="100000"/>
              <a:buChar char="•"/>
            </a:pPr>
            <a:r>
              <a:rPr lang="en-US" sz="1800" dirty="0">
                <a:solidFill>
                  <a:schemeClr val="tx1"/>
                </a:solidFill>
              </a:rPr>
              <a:t>Revenue calculated</a:t>
            </a:r>
            <a:endParaRPr lang="en-US" sz="1800" dirty="0"/>
          </a:p>
          <a:p>
            <a:pPr marL="342900" indent="-342900" algn="l">
              <a:spcAft>
                <a:spcPts val="800"/>
              </a:spcAft>
              <a:buSzPct val="100000"/>
              <a:buChar char="•"/>
            </a:pPr>
            <a:r>
              <a:rPr lang="en-US" sz="1800" dirty="0">
                <a:solidFill>
                  <a:schemeClr val="tx1"/>
                </a:solidFill>
              </a:rPr>
              <a:t>Best-selling product identified</a:t>
            </a:r>
            <a:endParaRPr lang="en-US" sz="1800" dirty="0"/>
          </a:p>
          <a:p>
            <a:pPr marL="342900" indent="-342900" algn="l">
              <a:spcAft>
                <a:spcPts val="800"/>
              </a:spcAft>
              <a:buSzPct val="100000"/>
              <a:buChar char="•"/>
            </a:pPr>
            <a:r>
              <a:rPr lang="en-US" sz="1800" dirty="0">
                <a:solidFill>
                  <a:schemeClr val="tx1"/>
                </a:solidFill>
              </a:rPr>
              <a:t>Category-wise sales visualized</a:t>
            </a:r>
            <a:endParaRPr lang="en-US" sz="1800" dirty="0"/>
          </a:p>
        </p:txBody>
      </p:sp>
      <p:sp>
        <p:nvSpPr>
          <p:cNvPr id="25"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6</a:t>
            </a:fld>
            <a:endParaRPr lang="en-US"/>
          </a:p>
        </p:txBody>
      </p:sp>
      <p:pic>
        <p:nvPicPr>
          <p:cNvPr id="11" name="Picture 10">
            <a:extLst>
              <a:ext uri="{FF2B5EF4-FFF2-40B4-BE49-F238E27FC236}">
                <a16:creationId xmlns:a16="http://schemas.microsoft.com/office/drawing/2014/main" id="{B09D75A3-CA4A-3961-7681-838C1D41F5FD}"/>
              </a:ext>
            </a:extLst>
          </p:cNvPr>
          <p:cNvPicPr>
            <a:picLocks noChangeAspect="1"/>
          </p:cNvPicPr>
          <p:nvPr/>
        </p:nvPicPr>
        <p:blipFill>
          <a:blip r:embed="rId3"/>
          <a:stretch>
            <a:fillRect/>
          </a:stretch>
        </p:blipFill>
        <p:spPr>
          <a:xfrm>
            <a:off x="822960" y="1554480"/>
            <a:ext cx="6309360" cy="38404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457200"/>
            <a:ext cx="10543032" cy="822960"/>
          </a:xfrm>
          <a:prstGeom prst="rect">
            <a:avLst/>
          </a:prstGeom>
          <a:noFill/>
          <a:ln/>
        </p:spPr>
        <p:txBody>
          <a:bodyPr wrap="square" lIns="0" tIns="0" rIns="0" bIns="0" rtlCol="0" anchor="ctr"/>
          <a:lstStyle/>
          <a:p>
            <a:pPr marL="0" indent="0" algn="l">
              <a:buNone/>
            </a:pPr>
            <a:r>
              <a:rPr lang="en-US" sz="3200" b="1" dirty="0">
                <a:solidFill>
                  <a:schemeClr val="tx1"/>
                </a:solidFill>
              </a:rPr>
              <a:t>Conclusion &amp; Future Scope</a:t>
            </a:r>
            <a:endParaRPr lang="en-US" sz="3200" dirty="0"/>
          </a:p>
        </p:txBody>
      </p:sp>
      <p:sp>
        <p:nvSpPr>
          <p:cNvPr id="3" name="Conclusion card"/>
          <p:cNvSpPr/>
          <p:nvPr/>
        </p:nvSpPr>
        <p:spPr>
          <a:xfrm>
            <a:off x="822960" y="1554480"/>
            <a:ext cx="5669280" cy="4572000"/>
          </a:xfrm>
          <a:prstGeom prst="roundRect">
            <a:avLst>
              <a:gd name="adj" fmla="val 2400"/>
            </a:avLst>
          </a:prstGeom>
          <a:solidFill>
            <a:schemeClr val="bg2"/>
          </a:solidFill>
          <a:ln/>
        </p:spPr>
        <p:txBody>
          <a:bodyPr/>
          <a:lstStyle/>
          <a:p>
            <a:endParaRPr lang="en-IN"/>
          </a:p>
        </p:txBody>
      </p:sp>
      <p:sp>
        <p:nvSpPr>
          <p:cNvPr id="4" name="Conclusion title"/>
          <p:cNvSpPr txBox="1"/>
          <p:nvPr/>
        </p:nvSpPr>
        <p:spPr>
          <a:xfrm>
            <a:off x="1188720" y="1783080"/>
            <a:ext cx="4937760" cy="457200"/>
          </a:xfrm>
          <a:prstGeom prst="rect">
            <a:avLst/>
          </a:prstGeom>
          <a:noFill/>
          <a:ln/>
        </p:spPr>
        <p:txBody>
          <a:bodyPr wrap="square" lIns="0" tIns="0" rIns="0" bIns="0" rtlCol="0" anchor="ctr"/>
          <a:lstStyle/>
          <a:p>
            <a:pPr marL="0" indent="0" algn="l">
              <a:buNone/>
            </a:pPr>
            <a:r>
              <a:rPr lang="en-US" sz="2400" b="1" dirty="0">
                <a:solidFill>
                  <a:schemeClr val="tx1"/>
                </a:solidFill>
              </a:rPr>
              <a:t>Conclusion</a:t>
            </a:r>
            <a:endParaRPr lang="en-US" sz="2400" dirty="0"/>
          </a:p>
        </p:txBody>
      </p:sp>
      <p:sp>
        <p:nvSpPr>
          <p:cNvPr id="5" name="Conclusion text"/>
          <p:cNvSpPr txBox="1"/>
          <p:nvPr/>
        </p:nvSpPr>
        <p:spPr>
          <a:xfrm>
            <a:off x="1188720" y="2377440"/>
            <a:ext cx="4937760" cy="1371600"/>
          </a:xfrm>
          <a:prstGeom prst="rect">
            <a:avLst/>
          </a:prstGeom>
          <a:noFill/>
          <a:ln/>
        </p:spPr>
        <p:txBody>
          <a:bodyPr wrap="square" lIns="0" tIns="0" rIns="0" bIns="0" rtlCol="0" anchor="t"/>
          <a:lstStyle/>
          <a:p>
            <a:pPr marL="0" indent="0" algn="l">
              <a:buNone/>
            </a:pPr>
            <a:r>
              <a:rPr lang="en-US" sz="1800" dirty="0">
                <a:solidFill>
                  <a:schemeClr val="tx1"/>
                </a:solidFill>
              </a:rPr>
              <a:t>The project successfully integrates Python, OOP, Tkinter, SQLite, Pandas and Matplotlib into a practical inventory and sales management application.</a:t>
            </a:r>
            <a:endParaRPr lang="en-US" sz="1800" dirty="0"/>
          </a:p>
        </p:txBody>
      </p:sp>
      <p:sp>
        <p:nvSpPr>
          <p:cNvPr id="6" name="Provides label"/>
          <p:cNvSpPr txBox="1"/>
          <p:nvPr/>
        </p:nvSpPr>
        <p:spPr>
          <a:xfrm>
            <a:off x="1188720" y="3840480"/>
            <a:ext cx="4937760" cy="365760"/>
          </a:xfrm>
          <a:prstGeom prst="rect">
            <a:avLst/>
          </a:prstGeom>
          <a:noFill/>
          <a:ln/>
        </p:spPr>
        <p:txBody>
          <a:bodyPr wrap="square" lIns="0" tIns="0" rIns="0" bIns="0" rtlCol="0" anchor="ctr"/>
          <a:lstStyle/>
          <a:p>
            <a:pPr marL="0" indent="0" algn="l">
              <a:buNone/>
            </a:pPr>
            <a:r>
              <a:rPr lang="en-US" sz="1800" b="1" dirty="0">
                <a:solidFill>
                  <a:schemeClr val="accent1"/>
                </a:solidFill>
              </a:rPr>
              <a:t>The system provides:</a:t>
            </a:r>
            <a:endParaRPr lang="en-US" sz="1800" dirty="0"/>
          </a:p>
        </p:txBody>
      </p:sp>
      <p:sp>
        <p:nvSpPr>
          <p:cNvPr id="7" name="Provides list"/>
          <p:cNvSpPr txBox="1"/>
          <p:nvPr/>
        </p:nvSpPr>
        <p:spPr>
          <a:xfrm>
            <a:off x="1188720" y="4297680"/>
            <a:ext cx="4937760" cy="1691640"/>
          </a:xfrm>
          <a:prstGeom prst="rect">
            <a:avLst/>
          </a:prstGeom>
          <a:noFill/>
          <a:ln/>
        </p:spPr>
        <p:txBody>
          <a:bodyPr wrap="square" lIns="0" tIns="0" rIns="0" bIns="0" rtlCol="0" anchor="t"/>
          <a:lstStyle/>
          <a:p>
            <a:pPr marL="342900" indent="-342900" algn="l">
              <a:spcAft>
                <a:spcPts val="400"/>
              </a:spcAft>
              <a:buSzPct val="100000"/>
              <a:buChar char="•"/>
            </a:pPr>
            <a:r>
              <a:rPr lang="en-US" sz="1800" dirty="0">
                <a:solidFill>
                  <a:schemeClr val="tx1"/>
                </a:solidFill>
              </a:rPr>
              <a:t>Inventory management</a:t>
            </a:r>
            <a:endParaRPr lang="en-US" sz="1800" dirty="0"/>
          </a:p>
          <a:p>
            <a:pPr marL="342900" indent="-342900" algn="l">
              <a:spcAft>
                <a:spcPts val="400"/>
              </a:spcAft>
              <a:buSzPct val="100000"/>
              <a:buChar char="•"/>
            </a:pPr>
            <a:r>
              <a:rPr lang="en-US" sz="1800" dirty="0">
                <a:solidFill>
                  <a:schemeClr val="tx1"/>
                </a:solidFill>
              </a:rPr>
              <a:t>Sales recording</a:t>
            </a:r>
            <a:endParaRPr lang="en-US" sz="1800" dirty="0"/>
          </a:p>
          <a:p>
            <a:pPr marL="342900" indent="-342900" algn="l">
              <a:spcAft>
                <a:spcPts val="400"/>
              </a:spcAft>
              <a:buSzPct val="100000"/>
              <a:buChar char="•"/>
            </a:pPr>
            <a:r>
              <a:rPr lang="en-US" sz="1800" dirty="0">
                <a:solidFill>
                  <a:schemeClr val="tx1"/>
                </a:solidFill>
              </a:rPr>
              <a:t>Automatic stock updates</a:t>
            </a:r>
            <a:endParaRPr lang="en-US" sz="1800" dirty="0"/>
          </a:p>
          <a:p>
            <a:pPr marL="342900" indent="-342900" algn="l">
              <a:spcAft>
                <a:spcPts val="400"/>
              </a:spcAft>
              <a:buSzPct val="100000"/>
              <a:buChar char="•"/>
            </a:pPr>
            <a:r>
              <a:rPr lang="en-US" sz="1800" dirty="0">
                <a:solidFill>
                  <a:schemeClr val="tx1"/>
                </a:solidFill>
              </a:rPr>
              <a:t>Basic sales analytics</a:t>
            </a:r>
            <a:endParaRPr lang="en-US" sz="1800" dirty="0"/>
          </a:p>
          <a:p>
            <a:pPr marL="342900" indent="-342900" algn="l">
              <a:spcAft>
                <a:spcPts val="400"/>
              </a:spcAft>
              <a:buSzPct val="100000"/>
              <a:buChar char="•"/>
            </a:pPr>
            <a:r>
              <a:rPr lang="en-US" sz="1800" dirty="0">
                <a:solidFill>
                  <a:schemeClr val="tx1"/>
                </a:solidFill>
              </a:rPr>
              <a:t>Data visualization</a:t>
            </a:r>
            <a:endParaRPr lang="en-US" sz="1800" dirty="0"/>
          </a:p>
        </p:txBody>
      </p:sp>
      <p:sp>
        <p:nvSpPr>
          <p:cNvPr id="8" name="Future card"/>
          <p:cNvSpPr/>
          <p:nvPr/>
        </p:nvSpPr>
        <p:spPr>
          <a:xfrm>
            <a:off x="6766560" y="1554480"/>
            <a:ext cx="4599432" cy="4572000"/>
          </a:xfrm>
          <a:prstGeom prst="roundRect">
            <a:avLst>
              <a:gd name="adj" fmla="val 2400"/>
            </a:avLst>
          </a:prstGeom>
          <a:solidFill>
            <a:schemeClr val="tx2"/>
          </a:solidFill>
          <a:ln/>
        </p:spPr>
        <p:txBody>
          <a:bodyPr/>
          <a:lstStyle/>
          <a:p>
            <a:endParaRPr lang="en-IN"/>
          </a:p>
        </p:txBody>
      </p:sp>
      <p:sp>
        <p:nvSpPr>
          <p:cNvPr id="9" name="Future title"/>
          <p:cNvSpPr txBox="1"/>
          <p:nvPr/>
        </p:nvSpPr>
        <p:spPr>
          <a:xfrm>
            <a:off x="7132320" y="1783080"/>
            <a:ext cx="3867912" cy="457200"/>
          </a:xfrm>
          <a:prstGeom prst="rect">
            <a:avLst/>
          </a:prstGeom>
          <a:noFill/>
          <a:ln/>
        </p:spPr>
        <p:txBody>
          <a:bodyPr wrap="square" lIns="0" tIns="0" rIns="0" bIns="0" rtlCol="0" anchor="ctr"/>
          <a:lstStyle/>
          <a:p>
            <a:pPr marL="0" indent="0" algn="l">
              <a:buNone/>
            </a:pPr>
            <a:r>
              <a:rPr lang="en-US" sz="2400" b="1" dirty="0">
                <a:solidFill>
                  <a:schemeClr val="bg1"/>
                </a:solidFill>
              </a:rPr>
              <a:t>Future Scope</a:t>
            </a:r>
            <a:endParaRPr lang="en-US" sz="2400" dirty="0"/>
          </a:p>
        </p:txBody>
      </p:sp>
      <p:sp>
        <p:nvSpPr>
          <p:cNvPr id="10" name="Future note"/>
          <p:cNvSpPr txBox="1"/>
          <p:nvPr/>
        </p:nvSpPr>
        <p:spPr>
          <a:xfrm>
            <a:off x="7132320" y="2240280"/>
            <a:ext cx="3867912" cy="320040"/>
          </a:xfrm>
          <a:prstGeom prst="rect">
            <a:avLst/>
          </a:prstGeom>
          <a:noFill/>
          <a:ln/>
        </p:spPr>
        <p:txBody>
          <a:bodyPr wrap="square" lIns="0" tIns="0" rIns="0" bIns="0" rtlCol="0" anchor="ctr"/>
          <a:lstStyle/>
          <a:p>
            <a:pPr marL="0" indent="0" algn="l">
              <a:buNone/>
            </a:pPr>
            <a:r>
              <a:rPr lang="en-US" sz="1400" i="1" dirty="0">
                <a:solidFill>
                  <a:schemeClr val="accent2"/>
                </a:solidFill>
              </a:rPr>
              <a:t>Possible future improvements, not implemented</a:t>
            </a:r>
            <a:endParaRPr lang="en-US" sz="1400" dirty="0"/>
          </a:p>
        </p:txBody>
      </p:sp>
      <p:sp>
        <p:nvSpPr>
          <p:cNvPr id="11" name="Future list"/>
          <p:cNvSpPr txBox="1"/>
          <p:nvPr/>
        </p:nvSpPr>
        <p:spPr>
          <a:xfrm>
            <a:off x="7132320" y="2697480"/>
            <a:ext cx="3867912" cy="2560320"/>
          </a:xfrm>
          <a:prstGeom prst="rect">
            <a:avLst/>
          </a:prstGeom>
          <a:noFill/>
          <a:ln/>
        </p:spPr>
        <p:txBody>
          <a:bodyPr wrap="square" lIns="0" tIns="0" rIns="0" bIns="0" rtlCol="0" anchor="t"/>
          <a:lstStyle/>
          <a:p>
            <a:pPr marL="342900" indent="-342900" algn="l">
              <a:spcAft>
                <a:spcPts val="300"/>
              </a:spcAft>
              <a:buSzPct val="100000"/>
              <a:buChar char="•"/>
            </a:pPr>
            <a:r>
              <a:rPr lang="en-US" sz="1800" dirty="0">
                <a:solidFill>
                  <a:schemeClr val="bg1"/>
                </a:solidFill>
              </a:rPr>
              <a:t>Product search and filtering</a:t>
            </a:r>
            <a:endParaRPr lang="en-US" sz="1800" dirty="0"/>
          </a:p>
          <a:p>
            <a:pPr marL="342900" indent="-342900" algn="l">
              <a:spcAft>
                <a:spcPts val="300"/>
              </a:spcAft>
              <a:buSzPct val="100000"/>
              <a:buChar char="•"/>
            </a:pPr>
            <a:r>
              <a:rPr lang="en-US" sz="1800" dirty="0">
                <a:solidFill>
                  <a:schemeClr val="bg1"/>
                </a:solidFill>
              </a:rPr>
              <a:t>Update and delete products</a:t>
            </a:r>
            <a:endParaRPr lang="en-US" sz="1800" dirty="0"/>
          </a:p>
          <a:p>
            <a:pPr marL="342900" indent="-342900" algn="l">
              <a:spcAft>
                <a:spcPts val="300"/>
              </a:spcAft>
              <a:buSzPct val="100000"/>
              <a:buChar char="•"/>
            </a:pPr>
            <a:r>
              <a:rPr lang="en-US" sz="1800" dirty="0">
                <a:solidFill>
                  <a:schemeClr val="bg1"/>
                </a:solidFill>
              </a:rPr>
              <a:t>Low-stock alerts</a:t>
            </a:r>
            <a:endParaRPr lang="en-US" sz="1800" dirty="0"/>
          </a:p>
          <a:p>
            <a:pPr marL="342900" indent="-342900" algn="l">
              <a:spcAft>
                <a:spcPts val="300"/>
              </a:spcAft>
              <a:buSzPct val="100000"/>
              <a:buChar char="•"/>
            </a:pPr>
            <a:r>
              <a:rPr lang="en-US" sz="1800" dirty="0">
                <a:solidFill>
                  <a:schemeClr val="bg1"/>
                </a:solidFill>
              </a:rPr>
              <a:t>Monthly sales reports</a:t>
            </a:r>
            <a:endParaRPr lang="en-US" sz="1800" dirty="0"/>
          </a:p>
          <a:p>
            <a:pPr marL="342900" indent="-342900" algn="l">
              <a:spcAft>
                <a:spcPts val="300"/>
              </a:spcAft>
              <a:buSzPct val="100000"/>
              <a:buChar char="•"/>
            </a:pPr>
            <a:r>
              <a:rPr lang="en-US" sz="1800" dirty="0">
                <a:solidFill>
                  <a:schemeClr val="bg1"/>
                </a:solidFill>
              </a:rPr>
              <a:t>CSV/PDF export</a:t>
            </a:r>
            <a:endParaRPr lang="en-US" sz="1800" dirty="0"/>
          </a:p>
          <a:p>
            <a:pPr marL="342900" indent="-342900" algn="l">
              <a:spcAft>
                <a:spcPts val="300"/>
              </a:spcAft>
              <a:buSzPct val="100000"/>
              <a:buChar char="•"/>
            </a:pPr>
            <a:r>
              <a:rPr lang="en-US" sz="1800" dirty="0">
                <a:solidFill>
                  <a:schemeClr val="bg1"/>
                </a:solidFill>
              </a:rPr>
              <a:t>Web-based multi-user version</a:t>
            </a:r>
            <a:endParaRPr lang="en-US" sz="1800" dirty="0"/>
          </a:p>
          <a:p>
            <a:pPr marL="342900" indent="-342900" algn="l">
              <a:spcAft>
                <a:spcPts val="300"/>
              </a:spcAft>
              <a:buSzPct val="100000"/>
              <a:buChar char="•"/>
            </a:pPr>
            <a:r>
              <a:rPr lang="en-US" sz="1800" dirty="0">
                <a:solidFill>
                  <a:schemeClr val="bg1"/>
                </a:solidFill>
              </a:rPr>
              <a:t>Advanced sales forecasting</a:t>
            </a:r>
            <a:endParaRPr lang="en-US" sz="1800" dirty="0"/>
          </a:p>
        </p:txBody>
      </p:sp>
      <p:sp>
        <p:nvSpPr>
          <p:cNvPr id="12" name="Thank you"/>
          <p:cNvSpPr txBox="1"/>
          <p:nvPr/>
        </p:nvSpPr>
        <p:spPr>
          <a:xfrm>
            <a:off x="7132320" y="5257800"/>
            <a:ext cx="3867912" cy="640080"/>
          </a:xfrm>
          <a:prstGeom prst="rect">
            <a:avLst/>
          </a:prstGeom>
          <a:noFill/>
          <a:ln/>
        </p:spPr>
        <p:txBody>
          <a:bodyPr wrap="square" lIns="0" tIns="0" rIns="0" bIns="0" rtlCol="0" anchor="ctr"/>
          <a:lstStyle/>
          <a:p>
            <a:pPr marL="0" indent="0" algn="l">
              <a:buNone/>
            </a:pPr>
            <a:r>
              <a:rPr lang="en-US" sz="3200" b="1" dirty="0">
                <a:solidFill>
                  <a:schemeClr val="accent2"/>
                </a:solidFill>
              </a:rPr>
              <a:t>THANK YOU</a:t>
            </a:r>
            <a:endParaRPr lang="en-US" sz="3200" dirty="0"/>
          </a:p>
        </p:txBody>
      </p:sp>
      <p:sp>
        <p:nvSpPr>
          <p:cNvPr id="25" name="Slide Number Placeholder 0"/>
          <p:cNvSpPr>
            <a:spLocks noGrp="1"/>
          </p:cNvSpPr>
          <p:nvPr>
            <p:ph type="sldNum" sz="quarter" idx="4294967295"/>
          </p:nvPr>
        </p:nvSpPr>
        <p:spPr>
          <a:xfrm>
            <a:off x="10451592" y="6355080"/>
            <a:ext cx="914400" cy="274320"/>
          </a:xfrm>
          <a:prstGeom prst="rect">
            <a:avLst/>
          </a:prstGeom>
          <a:extLst>
            <a:ext uri="{C572A759-6A51-4108-AA02-DFA0A04FC94B}">
              <ma14:wrappingTextBoxFlag xmlns="" xmlns:ma14="http://schemas.microsoft.com/office/mac/drawingml/2011/main" val="0"/>
            </a:ext>
          </a:extLst>
        </p:spPr>
        <p:txBody>
          <a:bodyPr/>
          <a:lstStyle>
            <a:lvl1pPr>
              <a:defRPr sz="1400">
                <a:solidFill>
                  <a:srgbClr val="475569"/>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Academic Teal">
  <a:themeElements>
    <a:clrScheme name="Academic Teal">
      <a:dk1>
        <a:srgbClr val="0F172A"/>
      </a:dk1>
      <a:lt1>
        <a:srgbClr val="FFFFFF"/>
      </a:lt1>
      <a:dk2>
        <a:srgbClr val="0B2A33"/>
      </a:dk2>
      <a:lt2>
        <a:srgbClr val="EDF4F4"/>
      </a:lt2>
      <a:accent1>
        <a:srgbClr val="0F766E"/>
      </a:accent1>
      <a:accent2>
        <a:srgbClr val="7DD3C8"/>
      </a:accent2>
      <a:accent3>
        <a:srgbClr val="475569"/>
      </a:accent3>
      <a:accent4>
        <a:srgbClr val="CBD5E1"/>
      </a:accent4>
      <a:accent5>
        <a:srgbClr val="94A3B8"/>
      </a:accent5>
      <a:accent6>
        <a:srgbClr val="134E4A"/>
      </a:accent6>
      <a:hlink>
        <a:srgbClr val="0F766E"/>
      </a:hlink>
      <a:folHlink>
        <a:srgbClr val="475569"/>
      </a:folHlink>
    </a:clrScheme>
    <a:fontScheme name="Academic Te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731</Words>
  <Application>Microsoft Office PowerPoint</Application>
  <PresentationFormat>Widescreen</PresentationFormat>
  <Paragraphs>147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Academic Teal</vt:lpstr>
      <vt:lpstr>Inventory Management and Sales Visualization System</vt:lpstr>
      <vt:lpstr>Problem Statement &amp; Objectives</vt:lpstr>
      <vt:lpstr>Technology Stack &amp; System Architecture</vt:lpstr>
      <vt:lpstr>System Design &amp; Workflow</vt:lpstr>
      <vt:lpstr>Implementation &amp; Sales Analytics</vt:lpstr>
      <vt:lpstr>GUI Output &amp; Results</vt:lpstr>
      <vt:lpstr>Conclusion &amp;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 and Sales Visualization System</dc:title>
  <dc:subject>PptxGenJS Presentation</dc:subject>
  <dc:creator>Alliance School of Advanced Computing</dc:creator>
  <cp:lastModifiedBy>Hithesh Reddy</cp:lastModifiedBy>
  <cp:revision>2</cp:revision>
  <dcterms:created xsi:type="dcterms:W3CDTF">2026-10-08T03:21:13Z</dcterms:created>
  <dcterms:modified xsi:type="dcterms:W3CDTF">2026-10-08T03:32:39Z</dcterms:modified>
</cp:coreProperties>
</file>